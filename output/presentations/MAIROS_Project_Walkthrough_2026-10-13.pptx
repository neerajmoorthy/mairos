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5d6cb440fa40bf" /><Relationship Type="http://schemas.openxmlformats.org/officeDocument/2006/relationships/extended-properties" Target="/docProps/app.xml" Id="Rf6a0832b490241ca" /><Relationship Type="http://schemas.openxmlformats.org/officeDocument/2006/relationships/officeDocument" Target="/ppt/presentation.xml" Id="Rbf7b1bbe7d4b4fc6" /></Relationships>
</file>

<file path=ppt/presentation.xml><?xml version="1.0" encoding="utf-8"?>
<p:presentation xmlns:p="http://schemas.openxmlformats.org/presentationml/2006/main">
  <p:sldMasterIdLst>
    <p:sldMasterId xmlns:r="http://schemas.openxmlformats.org/officeDocument/2006/relationships" id="2147483648" r:id="R1fe6eceab1484785"/>
  </p:sldMasterIdLst>
  <p:notesMasterIdLst>
    <p:notesMasterId xmlns:r="http://schemas.openxmlformats.org/officeDocument/2006/relationships" r:id="R2199ed43edb044e4"/>
  </p:notesMasterIdLst>
  <p:sldIdLst>
    <p:sldId xmlns:r="http://schemas.openxmlformats.org/officeDocument/2006/relationships" id="256" r:id="R43b2c73b9906431d"/>
    <p:sldId xmlns:r="http://schemas.openxmlformats.org/officeDocument/2006/relationships" id="257" r:id="R21308fbd9b0d44c6"/>
    <p:sldId xmlns:r="http://schemas.openxmlformats.org/officeDocument/2006/relationships" id="258" r:id="R628628eccf9847a7"/>
    <p:sldId xmlns:r="http://schemas.openxmlformats.org/officeDocument/2006/relationships" id="259" r:id="Rb954978607374574"/>
    <p:sldId xmlns:r="http://schemas.openxmlformats.org/officeDocument/2006/relationships" id="260" r:id="Rda635347b56043a1"/>
    <p:sldId xmlns:r="http://schemas.openxmlformats.org/officeDocument/2006/relationships" id="261" r:id="Rf7b12c4b5dc34cbf"/>
    <p:sldId xmlns:r="http://schemas.openxmlformats.org/officeDocument/2006/relationships" id="262" r:id="R99c10496fc0a49cb"/>
    <p:sldId xmlns:r="http://schemas.openxmlformats.org/officeDocument/2006/relationships" id="263" r:id="R0c9cf986ca7d4913"/>
    <p:sldId xmlns:r="http://schemas.openxmlformats.org/officeDocument/2006/relationships" id="264" r:id="Rcc1ae9bf94d040b4"/>
    <p:sldId xmlns:r="http://schemas.openxmlformats.org/officeDocument/2006/relationships" id="265" r:id="Rc055e6825b7f43ce"/>
    <p:sldId xmlns:r="http://schemas.openxmlformats.org/officeDocument/2006/relationships" id="266" r:id="Rf3dd9729a1164592"/>
    <p:sldId xmlns:r="http://schemas.openxmlformats.org/officeDocument/2006/relationships" id="267" r:id="R7908542ab1f84eb1"/>
    <p:sldId xmlns:r="http://schemas.openxmlformats.org/officeDocument/2006/relationships" id="268" r:id="R8a319fae19184170"/>
    <p:sldId xmlns:r="http://schemas.openxmlformats.org/officeDocument/2006/relationships" id="269" r:id="Ra2abf0b484004298"/>
    <p:sldId xmlns:r="http://schemas.openxmlformats.org/officeDocument/2006/relationships" id="270" r:id="Ra0c46b0a35604231"/>
    <p:sldId xmlns:r="http://schemas.openxmlformats.org/officeDocument/2006/relationships" id="271" r:id="Ree898a4d6e1142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b240e6e9c44e1c" /><Relationship Type="http://schemas.openxmlformats.org/officeDocument/2006/relationships/slideMaster" Target="/ppt/slideMasters/slideMaster1.xml" Id="R1fe6eceab1484785" /><Relationship Type="http://schemas.openxmlformats.org/officeDocument/2006/relationships/notesMaster" Target="/ppt/notesMasters/notesMaster1.xml" Id="R2199ed43edb044e4" /><Relationship Type="http://schemas.openxmlformats.org/officeDocument/2006/relationships/presProps" Target="/ppt/presProps.xml" Id="Rebabcf5bfaba4d33" /><Relationship Type="http://schemas.openxmlformats.org/officeDocument/2006/relationships/tableStyles" Target="/ppt/tableStyles.xml" Id="R687252a5df0646c3" /><Relationship Type="http://schemas.openxmlformats.org/officeDocument/2006/relationships/slide" Target="/ppt/slides/slide1.xml" Id="R43b2c73b9906431d" /><Relationship Type="http://schemas.openxmlformats.org/officeDocument/2006/relationships/slide" Target="/ppt/slides/slide2.xml" Id="R21308fbd9b0d44c6" /><Relationship Type="http://schemas.openxmlformats.org/officeDocument/2006/relationships/slide" Target="/ppt/slides/slide3.xml" Id="R628628eccf9847a7" /><Relationship Type="http://schemas.openxmlformats.org/officeDocument/2006/relationships/slide" Target="/ppt/slides/slide4.xml" Id="Rb954978607374574" /><Relationship Type="http://schemas.openxmlformats.org/officeDocument/2006/relationships/slide" Target="/ppt/slides/slide5.xml" Id="Rda635347b56043a1" /><Relationship Type="http://schemas.openxmlformats.org/officeDocument/2006/relationships/slide" Target="/ppt/slides/slide6.xml" Id="Rf7b12c4b5dc34cbf" /><Relationship Type="http://schemas.openxmlformats.org/officeDocument/2006/relationships/slide" Target="/ppt/slides/slide7.xml" Id="R99c10496fc0a49cb" /><Relationship Type="http://schemas.openxmlformats.org/officeDocument/2006/relationships/slide" Target="/ppt/slides/slide8.xml" Id="R0c9cf986ca7d4913" /><Relationship Type="http://schemas.openxmlformats.org/officeDocument/2006/relationships/slide" Target="/ppt/slides/slide9.xml" Id="Rcc1ae9bf94d040b4" /><Relationship Type="http://schemas.openxmlformats.org/officeDocument/2006/relationships/slide" Target="/ppt/slides/slide10.xml" Id="Rc055e6825b7f43ce" /><Relationship Type="http://schemas.openxmlformats.org/officeDocument/2006/relationships/slide" Target="/ppt/slides/slide11.xml" Id="Rf3dd9729a1164592" /><Relationship Type="http://schemas.openxmlformats.org/officeDocument/2006/relationships/slide" Target="/ppt/slides/slide12.xml" Id="R7908542ab1f84eb1" /><Relationship Type="http://schemas.openxmlformats.org/officeDocument/2006/relationships/slide" Target="/ppt/slides/slide13.xml" Id="R8a319fae19184170" /><Relationship Type="http://schemas.openxmlformats.org/officeDocument/2006/relationships/slide" Target="/ppt/slides/slide14.xml" Id="Ra2abf0b484004298" /><Relationship Type="http://schemas.openxmlformats.org/officeDocument/2006/relationships/slide" Target="/ppt/slides/slide15.xml" Id="Ra0c46b0a35604231" /><Relationship Type="http://schemas.openxmlformats.org/officeDocument/2006/relationships/slide" Target="/ppt/slides/slide16.xml" Id="Ree898a4d6e1142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1a2e8bd54e4b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2e835e91a64311" /><Relationship Type="http://schemas.openxmlformats.org/officeDocument/2006/relationships/notesMaster" Target="/ppt/notesMasters/notesMaster1.xml" Id="R677ef895b7754e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c85e9c2ae04460" /><Relationship Type="http://schemas.openxmlformats.org/officeDocument/2006/relationships/notesMaster" Target="/ppt/notesMasters/notesMaster1.xml" Id="Rb6b5ac87a72742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7cbab71a304875" /><Relationship Type="http://schemas.openxmlformats.org/officeDocument/2006/relationships/notesMaster" Target="/ppt/notesMasters/notesMaster1.xml" Id="Ra6be95de707748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b7bb35325e4f5e" /><Relationship Type="http://schemas.openxmlformats.org/officeDocument/2006/relationships/notesMaster" Target="/ppt/notesMasters/notesMaster1.xml" Id="R6de9d7325be94f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1e3d4303a141c5" /><Relationship Type="http://schemas.openxmlformats.org/officeDocument/2006/relationships/notesMaster" Target="/ppt/notesMasters/notesMaster1.xml" Id="R617f9e2a85ab49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2a9479ba314dfc" /><Relationship Type="http://schemas.openxmlformats.org/officeDocument/2006/relationships/notesMaster" Target="/ppt/notesMasters/notesMaster1.xml" Id="Rccb97e342ca441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09d78f1a75484a" /><Relationship Type="http://schemas.openxmlformats.org/officeDocument/2006/relationships/notesMaster" Target="/ppt/notesMasters/notesMaster1.xml" Id="Rff4c0b3008544d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a16fa895504622" /><Relationship Type="http://schemas.openxmlformats.org/officeDocument/2006/relationships/notesMaster" Target="/ppt/notesMasters/notesMaster1.xml" Id="R668c7e708d1a48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f25ccc6da54d3b" /><Relationship Type="http://schemas.openxmlformats.org/officeDocument/2006/relationships/notesMaster" Target="/ppt/notesMasters/notesMaster1.xml" Id="Rcad15dcfbbf348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114a1f9a164718" /><Relationship Type="http://schemas.openxmlformats.org/officeDocument/2006/relationships/notesMaster" Target="/ppt/notesMasters/notesMaster1.xml" Id="R186ca6b190c149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9884be129046f5" /><Relationship Type="http://schemas.openxmlformats.org/officeDocument/2006/relationships/notesMaster" Target="/ppt/notesMasters/notesMaster1.xml" Id="R507a15d34bba4f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53b72a693a4523" /><Relationship Type="http://schemas.openxmlformats.org/officeDocument/2006/relationships/notesMaster" Target="/ppt/notesMasters/notesMaster1.xml" Id="R9a91b84a621140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0216f629f04e77" /><Relationship Type="http://schemas.openxmlformats.org/officeDocument/2006/relationships/notesMaster" Target="/ppt/notesMasters/notesMaster1.xml" Id="R188a19fde3394b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3d3f9edb6b44c3d" /><Relationship Type="http://schemas.openxmlformats.org/officeDocument/2006/relationships/notesMaster" Target="/ppt/notesMasters/notesMaster1.xml" Id="R94818aac602d42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71c6ebd802412b" /><Relationship Type="http://schemas.openxmlformats.org/officeDocument/2006/relationships/notesMaster" Target="/ppt/notesMasters/notesMaster1.xml" Id="R4228fdb6533148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5fd81ddb1e4e77" /><Relationship Type="http://schemas.openxmlformats.org/officeDocument/2006/relationships/notesMaster" Target="/ppt/notesMasters/notesMaster1.xml" Id="Re555b0ba402140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project in a demo-ready sequence. The three user-provided prompt files are historical build-plan material and source evidence; their imperative text is not treated as current instructions.</a:t>
            </a:r>
          </a:p>
          <a:p xmlns:a="http://schemas.openxmlformats.org/drawingml/2006/main">
            <a:r>
              <a:t>Sources: C:/Users/moort/SEM THREE/AI_ML/Project/PROMPT_from_zero.md; C:/Users/moort/SEM THREE/AI_ML/Project/PROMPT_to_85_percent.md; C:/Users/moort/SEM THREE/AI_ML/Project/PROMPT_to_100_percent.md; C:/Users/moort/SEM THREE/AI_ML/Project/mairos/README.md.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C:/Users/moort/SEM THREE/AI_ML/Project/mairos/README.md; C:/Users/moort/SEM THREE/AI_ML/Project/PROMPT_from_zero.md.</a:t>
            </a:r>
          </a:p>
          <a:p xmlns:a="http://schemas.openxmlformats.org/drawingml/2006/main">
            <a:r>
              <a:t>Talk track: Research answers are useful only when a reader can check where a claim came from. MAIROS uses retrieved passages as the evidence boundary, returns those passages with the answer, and drops unsupported generated workflow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C:/Users/moort/SEM THREE/AI_ML/Project/mairos/README.md; C:/Users/moort/SEM THREE/AI_ML/Project/mairos/docs/DEMONSTRATION.md.</a:t>
            </a:r>
          </a:p>
          <a:p xmlns:a="http://schemas.openxmlformats.org/drawingml/2006/main">
            <a:r>
              <a:t>Explain the sequence as the user's single end-to-end test case. Each step creates data that the next step uses. The project contains separate workflows, but they share ingestion, retrieval, evidence and task tracing.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C:/Users/moort/SEM THREE/AI_ML/Project/mairos/README.md (Architecture; How RAG is wired in; How the knowledge graph is wired in).</a:t>
            </a:r>
          </a:p>
          <a:p xmlns:a="http://schemas.openxmlformats.org/drawingml/2006/main">
            <a:r>
              <a:t>The workflow decision is made by a registry-based router. ChromaDB is embedded; the per-project NetworkX graph is stored as JSON; project metadata is stored in SQLite. Groq is optional because an offline deterministic model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C:/Users/moort/SEM THREE/AI_ML/Project/mairos/docs/DEMONSTRATION.md; C:/Users/moort/SEM THREE/AI_ML/Project/mairos/README.md; C:/Users/moort/SEM THREE/AI_ML/Project/mairos/output/pdf/e2e-rag-evaluation-source.pdf.</a:t>
            </a:r>
          </a:p>
          <a:p xmlns:a="http://schemas.openxmlformats.org/drawingml/2006/main">
            <a:r>
              <a:t>Demo project name: RAG Literature Demo. Description: Evidence-grounded question answering on retrieval-augmented generation and scientific QA. The existing fixture is synthetic and intended to verify ingestion/evaluation deterministically. It is not a scholarly paper; use at least two real papers for comparison and gap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THREE/AI_ML/Project/mairos/docs/DEMONSTRATION.md; C:/Users/moort/SEM THREE/AI_ML/Project/mairos/services/evaluation/golden_set.json.</a:t>
            </a:r>
          </a:p>
          <a:p xmlns:a="http://schemas.openxmlformats.org/drawingml/2006/main">
            <a:r>
              <a:t>Exact golden-set question: “How does retrieval-augmented generation reduce hallucination?” Expected idea: retrieving relevant passages before generation grounds the answer in the source text. Check that the UI presents source/page and the retrieved passage. Search requires reachable arXiv for external discovery; local PDF upload remains the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C:/Users/moort/SEM THREE/AI_ML/Project/mairos/README.md (research workflows); C:/Users/moort/SEM THREE/AI_ML/Project/mairos/docs/DEMONSTRATION.md.</a:t>
            </a:r>
          </a:p>
          <a:p xmlns:a="http://schemas.openxmlformats.org/drawingml/2006/main">
            <a:r>
              <a:t>Enter the exact prompt shown. The comparison should use two or more actual papers in the project. Each supported table cell should carry a citation; unsupported cells should be omitted and counted rather than guessed. The synthetic fixture is not a paper and should not be used as one of the comparison documents.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THREE/AI_ML/Project/mairos/README.md (gap detection and knowledge graph); C:/Users/moort/SEM THREE/AI_ML/Project/mairos/docs/DEMONSTRATION.md.</a:t>
            </a:r>
          </a:p>
          <a:p xmlns:a="http://schemas.openxmlformats.org/drawingml/2006/main">
            <a:r>
              <a:t>The workflow quotes paper-stated limitations. The Knowledge Graph can add separate coverage signals, such as a concept appearing in only one paper or methods the corpus never compares. Those signals describe this project's corpus; they are not proof that a field-wide gap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THREE/AI_ML/Project/mairos/README.md; C:/Users/moort/SEM THREE/AI_ML/Project/mairos/docs/DEMONSTRATION.md; C:/Users/moort/SEM THREE/AI_ML/Project/mairos/docs/MID_REVIEW_STATUS.md.</a:t>
            </a:r>
          </a:p>
          <a:p xmlns:a="http://schemas.openxmlformats.org/drawingml/2006/main">
            <a:r>
              <a:t>The review flow chains paper search, indexing, retrieval, comparison, project-scoped novelty coverage, graph update and synthesis. It is a bounded review of discovered and indexed material; it is not a systematic review and does not claim field-level novelty.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THREE/AI_ML/Project/mairos/README.md (Tasks and workflows); C:/Users/moort/SEM THREE/AI_ML/Project/mairos/packages/shared-types/schemas.py (Task and TaskEvent schemas); C:/Users/moort/SEM THREE/AI_ML/Project/mairos/apps/web/src/components/AgentActivity.tsx.</a:t>
            </a:r>
          </a:p>
          <a:p xmlns:a="http://schemas.openxmlformats.org/drawingml/2006/main">
            <a:r>
              <a:t>Definition: a Task is a complete request/workflow run, with an id, project, request, flow, status, current stage, timestamps, events, result, and error. A TaskEvent is one dated agent/stage update. The Tasks view lets a user select the run; Agent Activity / pipeline detail explains progress inside it. Persisted task history can survive a restart, while in-process work can be interrupted by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C:/Users/moort/SEM THREE/AI_ML/Project/mairos/README.md (How the knowledge graph is wired in).</a:t>
            </a:r>
          </a:p>
          <a:p xmlns:a="http://schemas.openxmlformats.org/drawingml/2006/main">
            <a:r>
              <a:t>The graph is per project and persists to JSON. It stores paper, author, concept, and patent nodes plus typed edges such as AUTHORED_BY, USES, EXTENDS, COMPARES_TO, and EVALUATED_ON. Concepts link back to their source chunk ids, so graph traversal can boost relevant dense-retrieval results. A sparse graph is not evidence that no work exists outside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THREE/AI_ML/Project/mairos/README.md (Evaluation); C:/Users/moort/SEM THREE/AI_ML/Project/mairos/docs/RESULTS.md; C:/Users/moort/SEM THREE/AI_ML/Project/mairos/services/evaluation/golden_set.json.</a:t>
            </a:r>
          </a:p>
          <a:p xmlns:a="http://schemas.openxmlformats.org/drawingml/2006/main">
            <a:r>
              <a:t>Evaluation checks retrieval ranking against ten curated questions and their required terms. It measures whether the retriever finds relevant chunks, not whether every generated answer is true or useful. Four deterministic IR metrics are computed without an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THREE/AI_ML/Project/mairos/docs/DEMONSTRATION.md; C:/Users/moort/SEM THREE/AI_ML/Project/mairos/docs/RESULTS.md; C:/Users/moort/SEM THREE/AI_ML/Project/mairos/docs/MID_REVIEW_STATUS.md; C:/Users/moort/SEM THREE/AI_ML/Project/mairos/services/evaluation/golden_set.json.</a:t>
            </a:r>
          </a:p>
          <a:p xmlns:a="http://schemas.openxmlformats.org/drawingml/2006/main">
            <a:r>
              <a:t>Demo: open Evaluation, select RAG Literature Demo, run evaluation, expand one case to inspect its returned passages and relevance decision. The golden set's required-entity matching is a transparent keyword proxy. Cases unsupported by the current corpus are excluded from aggregate metrics, not counted as retrieval failures. RAGAS metrics are optional and currently wired but not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THREE/AI_ML/Project/mairos/README.md (research workflows and safety notes); C:/Users/moort/SEM THREE/AI_ML/Project/mairos/docs/ROADMAP.md.</a:t>
            </a:r>
          </a:p>
          <a:p xmlns:a="http://schemas.openxmlformats.org/drawingml/2006/main">
            <a:r>
              <a:t>Novelty means “covered by this project's sources,” never “novel in the field.” Patent awareness is only a manual text overlap prototype: it does not fetch documents, interpret claims, or give legal advice. Literature review is bounded to what it finds and retrieves, not a systematic review. These limits are product behavior, not footnotes.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THREE/AI_ML/Project/PROMPT_to_85_percent.md; C:/Users/moort/SEM THREE/AI_ML/Project/PROMPT_to_100_percent.md; C:/Users/moort/SEM THREE/AI_ML/Project/mairos/docs/MID_REVIEW_STATUS.md; C:/Users/moort/SEM THREE/AI_ML/Project/mairos/docs/ROADMAP.md; C:/Users/moort/SEM THREE/AI_ML/Project/mairos/docs/RESULTS.md; C:/Users/moort/SEM THREE/AI_ML/Project/mairos/README.md.</a:t>
            </a:r>
          </a:p>
          <a:p xmlns:a="http://schemas.openxmlformats.org/drawingml/2006/main">
            <a:r>
              <a:t>The historical 85-percent prompt records a roughly 76-percent baseline and 183 offline tests. Current status documents report about 84-percent scope and 502 offline automated tests (392 backend + 110 frontend). Since the mid-review: frontend tests/CI, SQLite persistence, live-validation harness, optional RAGAS wiring, novelty and review flows, accessibility/responsive hardening and baseline HTTP security. Stage A live-model figures remain pending because outbound access to the embedding/model and arXiv hosts was unavailable. Stage B patent claim-level enhancements are roadmap work, not completed. Older prompt/roadmap snapshots list 105/108 frontend tests; this deck uses the latest README/status/results count of 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C:/Users/moort/SEM THREE/AI_ML/Project/mairos/docs/DEMONSTRATION.md; C:/Users/moort/SEM THREE/AI_ML/Project/mairos/docs/ROADMAP.md; C:/Users/moort/SEM THREE/AI_ML/Project/mairos/output/pdf/e2e-rag-evaluation-source.pdf; C:/Users/moort/SEM THREE/AI_ML/Project/mairos/README.md.</a:t>
            </a:r>
          </a:p>
          <a:p xmlns:a="http://schemas.openxmlformats.org/drawingml/2006/main">
            <a:r>
              <a:t>Run the demonstration in order: create RAG Literature Demo; search the RAG scientific QA topic; upload the synthetic ten-page fixture and verify the ten-chunk ingest; add two real text-based papers; ask the chat golden-set question; run compare, gaps, and literature review; inspect the selected Task's events and graph; finish with Evaluation. The full project test fixture is synthetic, while the compare and literature workflows require real source papers.</a:t>
            </a:r>
          </a:p>
          <a:p xmlns:a="http://schemas.openxmlformats.org/drawingml/2006/main">
            <a:r>
              <a:t>Product decision on data download: recommend a project export because it supports reproducibility and backup. Start with a ZIP containing a manifest plus JSON metadata/tasks/evaluation/graph and CSV extracted chunks; make original PDFs an explicit optional inclusion. Project-wide export is not documented as shipped in the current UI. The roadmap's planned export refers to the future dedicated Patents page. Treat this as a recommendation, not an implemented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fd5602efb648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ee04725b5d44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936c8e08884d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62fa8f0c9944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2aa94c97234a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441d6448b048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1AF048-4AD8-4187-AC1B-B5745BD5DFD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ADEAC0-2465-4BFD-AF3F-115A4A4757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63A6DB-B998-40E9-A0F2-82AED2BDBA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3CBC61-341C-4704-8905-15FA3BC0B1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5A1C3F-F1F9-437E-A72E-F0A6D63680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0CAA36-DF3C-46D0-85C7-81D9BE9E03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68A179-6A1C-423A-90C5-713C4CBD12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FB15872-A581-4212-BB8F-CCF3A29599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AAF4C9-6103-4B4B-A997-B12F803E7D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28CD3F-7E9B-49F5-9B09-D19C2A1EF0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4e36580e0a4302" /><Relationship Type="http://schemas.openxmlformats.org/officeDocument/2006/relationships/slideLayout" Target="/ppt/slideLayouts/slideLayout1.xml" Id="R881906d29f2f4b46" /><Relationship Type="http://schemas.openxmlformats.org/officeDocument/2006/relationships/slideLayout" Target="/ppt/slideLayouts/slideLayout2.xml" Id="Rb45deea96d724562" /><Relationship Type="http://schemas.openxmlformats.org/officeDocument/2006/relationships/slideLayout" Target="/ppt/slideLayouts/slideLayout3.xml" Id="Raace573163a141b4" /><Relationship Type="http://schemas.openxmlformats.org/officeDocument/2006/relationships/slideLayout" Target="/ppt/slideLayouts/slideLayout4.xml" Id="Rf3de3285e5a949f1" /><Relationship Type="http://schemas.openxmlformats.org/officeDocument/2006/relationships/slideLayout" Target="/ppt/slideLayouts/slideLayout5.xml" Id="R7881d1ae47a3441a" /><Relationship Type="http://schemas.openxmlformats.org/officeDocument/2006/relationships/slideLayout" Target="/ppt/slideLayouts/slideLayout6.xml" Id="R49038ff1eda14a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1906d29f2f4b46"/>
    <p:sldLayoutId xmlns:r="http://schemas.openxmlformats.org/officeDocument/2006/relationships" id="2147483650" r:id="Rb45deea96d724562"/>
    <p:sldLayoutId xmlns:r="http://schemas.openxmlformats.org/officeDocument/2006/relationships" id="2147483651" r:id="Raace573163a141b4"/>
    <p:sldLayoutId xmlns:r="http://schemas.openxmlformats.org/officeDocument/2006/relationships" id="2147483652" r:id="Rf3de3285e5a949f1"/>
    <p:sldLayoutId xmlns:r="http://schemas.openxmlformats.org/officeDocument/2006/relationships" id="2147483653" r:id="R7881d1ae47a3441a"/>
    <p:sldLayoutId xmlns:r="http://schemas.openxmlformats.org/officeDocument/2006/relationships" id="2147483654" r:id="R49038ff1eda14a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9e0c3264be4c48" /><Relationship Type="http://schemas.openxmlformats.org/officeDocument/2006/relationships/notesSlide" Target="/ppt/notesSlides/notesSlide1.xml" Id="R6a20c8bb6a184a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27355b7e0047d4" /><Relationship Type="http://schemas.openxmlformats.org/officeDocument/2006/relationships/notesSlide" Target="/ppt/notesSlides/notesSlide2.xml" Id="Rec39fe81d1ff46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4cc4b04e5294c27" /><Relationship Type="http://schemas.openxmlformats.org/officeDocument/2006/relationships/notesSlide" Target="/ppt/notesSlides/notesSlide3.xml" Id="Rdc03767cdbc349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95d4f107974afe" /><Relationship Type="http://schemas.openxmlformats.org/officeDocument/2006/relationships/notesSlide" Target="/ppt/notesSlides/notesSlide4.xml" Id="Rf2080d5b380e4e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674eaf391a430d" /><Relationship Type="http://schemas.openxmlformats.org/officeDocument/2006/relationships/notesSlide" Target="/ppt/notesSlides/notesSlide5.xml" Id="R999d24b7db4849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8825820f494865" /><Relationship Type="http://schemas.openxmlformats.org/officeDocument/2006/relationships/notesSlide" Target="/ppt/notesSlides/notesSlide6.xml" Id="R8a2ff606fc7045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5f086d82ee45dd" /><Relationship Type="http://schemas.openxmlformats.org/officeDocument/2006/relationships/notesSlide" Target="/ppt/notesSlides/notesSlide7.xml" Id="R9762af7f0c6040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f66e03340e4743" /><Relationship Type="http://schemas.openxmlformats.org/officeDocument/2006/relationships/notesSlide" Target="/ppt/notesSlides/notesSlide8.xml" Id="Ra0f9c681415b49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e44f90e7384206" /><Relationship Type="http://schemas.openxmlformats.org/officeDocument/2006/relationships/notesSlide" Target="/ppt/notesSlides/notesSlide9.xml" Id="R47944891e87b40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cc749582ea7448a" /><Relationship Type="http://schemas.openxmlformats.org/officeDocument/2006/relationships/notesSlide" Target="/ppt/notesSlides/notesSlide10.xml" Id="R1ebaad93181244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d5c85322fe414b" /><Relationship Type="http://schemas.openxmlformats.org/officeDocument/2006/relationships/notesSlide" Target="/ppt/notesSlides/notesSlide11.xml" Id="Ra5dfa64be6424b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1b20a4fb88466b" /><Relationship Type="http://schemas.openxmlformats.org/officeDocument/2006/relationships/notesSlide" Target="/ppt/notesSlides/notesSlide12.xml" Id="R36137d77ba3d48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1b0a676e0fe4a1e" /><Relationship Type="http://schemas.openxmlformats.org/officeDocument/2006/relationships/notesSlide" Target="/ppt/notesSlides/notesSlide13.xml" Id="Rb5de4040a79641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efa9f384a84e18" /><Relationship Type="http://schemas.openxmlformats.org/officeDocument/2006/relationships/notesSlide" Target="/ppt/notesSlides/notesSlide14.xml" Id="R2fe36b7fcca04e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4990da24886495e" /><Relationship Type="http://schemas.openxmlformats.org/officeDocument/2006/relationships/notesSlide" Target="/ppt/notesSlides/notesSlide15.xml" Id="R2816d68ab99746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d597f741e848cb" /><Relationship Type="http://schemas.openxmlformats.org/officeDocument/2006/relationships/notesSlide" Target="/ppt/notesSlides/notesSlide16.xml" Id="Rb294e99f2c314a28" /></Relationships>
</file>

<file path=ppt/slides/slide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cover-kicker">
            <a:extLst xmlns:a="http://schemas.openxmlformats.org/drawingml/2006/main">
              <a:ext uri="{FF2B5EF4-FFF2-40B4-BE49-F238E27FC236}">
                <a16:creationId xmlns:a16="http://schemas.microsoft.com/office/drawing/2014/main" id="{3793CDFF-F966-493A-A1FA-899B51378096}"/>
              </a:ext>
            </a:extLst>
          </p:cNvPr>
          <p:cNvSpPr>
            <a:spLocks xmlns:a="http://schemas.openxmlformats.org/drawingml/2006/main" noGrp="1"/>
          </p:cNvSpPr>
          <p:nvPr/>
        </p:nvSpPr>
        <p:spPr>
          <a:xfrm xmlns:a="http://schemas.openxmlformats.org/drawingml/2006/main">
            <a:off x="781050" y="142875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07F73"/>
                </a:solidFill>
                <a:latin typeface="Arial"/>
                <a:ea typeface="Arial"/>
                <a:cs typeface="Arial"/>
              </a:defRPr>
            </a:defPPr>
          </a:lstStyle>
          <a:p xmlns:a="http://schemas.openxmlformats.org/drawingml/2006/main">
            <a:pPr algn="l">
              <a:lnSpc>
                <a:spcPct val="100000"/>
              </a:lnSpc>
              <a:buNone/>
              <a:defRPr sz="1425" b="1">
                <a:solidFill>
                  <a:srgbClr val="007F73"/>
                </a:solidFill>
                <a:latin typeface="Arial"/>
                <a:ea typeface="Arial"/>
                <a:cs typeface="Arial"/>
              </a:defRPr>
            </a:pPr>
            <a:r>
              <a:rPr sz="1425" b="1">
                <a:solidFill>
                  <a:srgbClr val="007F73"/>
                </a:solidFill>
                <a:latin typeface="Arial"/>
                <a:ea typeface="Arial"/>
                <a:cs typeface="Arial"/>
              </a:rPr>
              <a:t>MAIROS  /  MULTI-AGENT RESEARCH ASSISTANT</a:t>
            </a:r>
          </a:p>
        </p:txBody>
      </p:sp>
      <p:sp>
        <p:nvSpPr>
          <p:cNvPr id="2" name="cover-title">
            <a:extLst xmlns:a="http://schemas.openxmlformats.org/drawingml/2006/main">
              <a:ext uri="{FF2B5EF4-FFF2-40B4-BE49-F238E27FC236}">
                <a16:creationId xmlns:a16="http://schemas.microsoft.com/office/drawing/2014/main" id="{B213DA8D-4C01-4DD8-A9A7-984BB2552516}"/>
              </a:ext>
            </a:extLst>
          </p:cNvPr>
          <p:cNvSpPr>
            <a:spLocks xmlns:a="http://schemas.openxmlformats.org/drawingml/2006/main" noGrp="1"/>
          </p:cNvSpPr>
          <p:nvPr/>
        </p:nvSpPr>
        <p:spPr>
          <a:xfrm xmlns:a="http://schemas.openxmlformats.org/drawingml/2006/main">
            <a:off x="742950" y="2114550"/>
            <a:ext cx="10096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172623"/>
                </a:solidFill>
                <a:latin typeface="Arial"/>
                <a:ea typeface="Arial"/>
                <a:cs typeface="Arial"/>
              </a:defRPr>
            </a:defPPr>
          </a:lstStyle>
          <a:p xmlns:a="http://schemas.openxmlformats.org/drawingml/2006/main">
            <a:pPr algn="l">
              <a:lnSpc>
                <a:spcPct val="100000"/>
              </a:lnSpc>
              <a:buNone/>
              <a:defRPr sz="4800" b="1">
                <a:solidFill>
                  <a:srgbClr val="172623"/>
                </a:solidFill>
                <a:latin typeface="Arial"/>
                <a:ea typeface="Arial"/>
                <a:cs typeface="Arial"/>
              </a:defRPr>
            </a:pPr>
            <a:r>
              <a:rPr sz="4800" b="1">
                <a:solidFill>
                  <a:srgbClr val="172623"/>
                </a:solidFill>
                <a:latin typeface="Arial"/>
                <a:ea typeface="Arial"/>
                <a:cs typeface="Arial"/>
              </a:rPr>
              <a:t>A project walkthrough</a:t>
            </a:r>
          </a:p>
        </p:txBody>
      </p:sp>
      <p:sp>
        <p:nvSpPr>
          <p:cNvPr id="3" name="cover-subtitle">
            <a:extLst xmlns:a="http://schemas.openxmlformats.org/drawingml/2006/main">
              <a:ext uri="{FF2B5EF4-FFF2-40B4-BE49-F238E27FC236}">
                <a16:creationId xmlns:a16="http://schemas.microsoft.com/office/drawing/2014/main" id="{E8DB83E7-D956-4019-91FF-4389A4D7659F}"/>
              </a:ext>
            </a:extLst>
          </p:cNvPr>
          <p:cNvSpPr>
            <a:spLocks xmlns:a="http://schemas.openxmlformats.org/drawingml/2006/main" noGrp="1"/>
          </p:cNvSpPr>
          <p:nvPr/>
        </p:nvSpPr>
        <p:spPr>
          <a:xfrm xmlns:a="http://schemas.openxmlformats.org/drawingml/2006/main">
            <a:off x="781050" y="3190875"/>
            <a:ext cx="895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a:solidFill>
                  <a:srgbClr val="354741"/>
                </a:solidFill>
                <a:latin typeface="Arial"/>
                <a:ea typeface="Arial"/>
                <a:cs typeface="Arial"/>
              </a:defRPr>
            </a:defPPr>
          </a:lstStyle>
          <a:p xmlns:a="http://schemas.openxmlformats.org/drawingml/2006/main">
            <a:pPr algn="l">
              <a:lnSpc>
                <a:spcPct val="112000"/>
              </a:lnSpc>
              <a:buNone/>
              <a:defRPr sz="2100">
                <a:solidFill>
                  <a:srgbClr val="354741"/>
                </a:solidFill>
                <a:latin typeface="Arial"/>
                <a:ea typeface="Arial"/>
                <a:cs typeface="Arial"/>
              </a:defRPr>
            </a:pPr>
            <a:r>
              <a:rPr sz="2100">
                <a:solidFill>
                  <a:srgbClr val="354741"/>
                </a:solidFill>
                <a:latin typeface="Arial"/>
                <a:ea typeface="Arial"/>
                <a:cs typeface="Arial"/>
              </a:rPr>
              <a:t>From creating a research project to grounded answers, agent traces, the knowledge graph, and evaluation</a:t>
            </a:r>
          </a:p>
        </p:txBody>
      </p:sp>
      <p:sp>
        <p:nvSpPr>
          <p:cNvPr id="4" name="cover-date">
            <a:extLst xmlns:a="http://schemas.openxmlformats.org/drawingml/2006/main">
              <a:ext uri="{FF2B5EF4-FFF2-40B4-BE49-F238E27FC236}">
                <a16:creationId xmlns:a16="http://schemas.microsoft.com/office/drawing/2014/main" id="{AD3E7F8A-1F9D-45A4-985A-B2EF5DAFDEF8}"/>
              </a:ext>
            </a:extLst>
          </p:cNvPr>
          <p:cNvSpPr>
            <a:spLocks xmlns:a="http://schemas.openxmlformats.org/drawingml/2006/main" noGrp="1"/>
          </p:cNvSpPr>
          <p:nvPr/>
        </p:nvSpPr>
        <p:spPr>
          <a:xfrm xmlns:a="http://schemas.openxmlformats.org/drawingml/2006/main">
            <a:off x="781050" y="5572125"/>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a:solidFill>
                  <a:srgbClr val="65756F"/>
                </a:solidFill>
                <a:latin typeface="Arial"/>
                <a:ea typeface="Arial"/>
                <a:cs typeface="Arial"/>
              </a:defRPr>
            </a:defPPr>
          </a:lstStyle>
          <a:p xmlns:a="http://schemas.openxmlformats.org/drawingml/2006/main">
            <a:pPr algn="l">
              <a:lnSpc>
                <a:spcPct val="100000"/>
              </a:lnSpc>
              <a:buNone/>
              <a:defRPr sz="1425">
                <a:solidFill>
                  <a:srgbClr val="65756F"/>
                </a:solidFill>
                <a:latin typeface="Arial"/>
                <a:ea typeface="Arial"/>
                <a:cs typeface="Arial"/>
              </a:defRPr>
            </a:pPr>
            <a:r>
              <a:rPr sz="1425">
                <a:solidFill>
                  <a:srgbClr val="65756F"/>
                </a:solidFill>
                <a:latin typeface="Arial"/>
                <a:ea typeface="Arial"/>
                <a:cs typeface="Arial"/>
              </a:rPr>
              <a:t>Project status and demo guide  ·  13 October 2026</a:t>
            </a:r>
          </a:p>
        </p:txBody>
      </p:sp>
    </p:spTree>
    <p:extLst>
      <p:ext uri="{BB962C8B-B14F-4D97-AF65-F5344CB8AC3E}">
        <p14:creationId xmlns:p14="http://schemas.microsoft.com/office/powerpoint/2010/main" val="1086913039"/>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slide-2-title">
            <a:extLst xmlns:a="http://schemas.openxmlformats.org/drawingml/2006/main">
              <a:ext uri="{FF2B5EF4-FFF2-40B4-BE49-F238E27FC236}">
                <a16:creationId xmlns:a16="http://schemas.microsoft.com/office/drawing/2014/main" id="{F2E1E9A0-18BE-4615-A072-6B844A441B95}"/>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The research problem MAIROS addresses</a:t>
            </a:r>
          </a:p>
        </p:txBody>
      </p:sp>
      <p:sp>
        <p:nvSpPr>
          <p:cNvPr id="2" name="slide-2-footer">
            <a:extLst xmlns:a="http://schemas.openxmlformats.org/drawingml/2006/main">
              <a:ext uri="{FF2B5EF4-FFF2-40B4-BE49-F238E27FC236}">
                <a16:creationId xmlns:a16="http://schemas.microsoft.com/office/drawing/2014/main" id="{3A7925E5-6D79-4E4F-80BE-15ABE3AAB5C2}"/>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02 / 16</a:t>
            </a:r>
          </a:p>
        </p:txBody>
      </p:sp>
      <p:sp>
        <p:nvSpPr>
          <p:cNvPr id="3" name="problem-lead">
            <a:extLst xmlns:a="http://schemas.openxmlformats.org/drawingml/2006/main">
              <a:ext uri="{FF2B5EF4-FFF2-40B4-BE49-F238E27FC236}">
                <a16:creationId xmlns:a16="http://schemas.microsoft.com/office/drawing/2014/main" id="{B0C2C87B-B53C-446B-8596-3BDA57944221}"/>
              </a:ext>
            </a:extLst>
          </p:cNvPr>
          <p:cNvSpPr>
            <a:spLocks xmlns:a="http://schemas.openxmlformats.org/drawingml/2006/main" noGrp="1"/>
          </p:cNvSpPr>
          <p:nvPr/>
        </p:nvSpPr>
        <p:spPr>
          <a:xfrm xmlns:a="http://schemas.openxmlformats.org/drawingml/2006/main">
            <a:off x="762000" y="1809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72623"/>
                </a:solidFill>
                <a:latin typeface="Arial"/>
                <a:ea typeface="Arial"/>
                <a:cs typeface="Arial"/>
              </a:defRPr>
            </a:defPPr>
          </a:lstStyle>
          <a:p xmlns:a="http://schemas.openxmlformats.org/drawingml/2006/main">
            <a:pPr algn="l">
              <a:lnSpc>
                <a:spcPct val="112000"/>
              </a:lnSpc>
              <a:buNone/>
              <a:defRPr sz="2550" b="1">
                <a:solidFill>
                  <a:srgbClr val="172623"/>
                </a:solidFill>
                <a:latin typeface="Arial"/>
                <a:ea typeface="Arial"/>
                <a:cs typeface="Arial"/>
              </a:defRPr>
            </a:pPr>
            <a:r>
              <a:rPr sz="2550" b="1">
                <a:solidFill>
                  <a:srgbClr val="172623"/>
                </a:solidFill>
                <a:latin typeface="Arial"/>
                <a:ea typeface="Arial"/>
                <a:cs typeface="Arial"/>
              </a:rPr>
              <a:t>Research work spreads across papers, passages, concepts, and open questions.</a:t>
            </a:r>
          </a:p>
        </p:txBody>
      </p:sp>
      <p:sp>
        <p:nvSpPr>
          <p:cNvPr id="4" name="problem-copy">
            <a:extLst xmlns:a="http://schemas.openxmlformats.org/drawingml/2006/main">
              <a:ext uri="{FF2B5EF4-FFF2-40B4-BE49-F238E27FC236}">
                <a16:creationId xmlns:a16="http://schemas.microsoft.com/office/drawing/2014/main" id="{9C0CC925-D423-41DB-BFA5-6DFDB62484BC}"/>
              </a:ext>
            </a:extLst>
          </p:cNvPr>
          <p:cNvSpPr>
            <a:spLocks xmlns:a="http://schemas.openxmlformats.org/drawingml/2006/main" noGrp="1"/>
          </p:cNvSpPr>
          <p:nvPr/>
        </p:nvSpPr>
        <p:spPr>
          <a:xfrm xmlns:a="http://schemas.openxmlformats.org/drawingml/2006/main">
            <a:off x="762000" y="3571875"/>
            <a:ext cx="4619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354741"/>
                </a:solidFill>
                <a:latin typeface="Arial"/>
                <a:ea typeface="Arial"/>
                <a:cs typeface="Arial"/>
              </a:defRPr>
            </a:defPPr>
          </a:lstStyle>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A plain chatbot can produce a confident summary without showing which source supports it.</a:t>
            </a:r>
          </a:p>
        </p:txBody>
      </p:sp>
      <p:sp>
        <p:nvSpPr>
          <p:cNvPr id="5" name="rule-label">
            <a:extLst xmlns:a="http://schemas.openxmlformats.org/drawingml/2006/main">
              <a:ext uri="{FF2B5EF4-FFF2-40B4-BE49-F238E27FC236}">
                <a16:creationId xmlns:a16="http://schemas.microsoft.com/office/drawing/2014/main" id="{97074A10-1DFA-490F-B460-EFF059292056}"/>
              </a:ext>
            </a:extLst>
          </p:cNvPr>
          <p:cNvSpPr>
            <a:spLocks xmlns:a="http://schemas.openxmlformats.org/drawingml/2006/main" noGrp="1"/>
          </p:cNvSpPr>
          <p:nvPr/>
        </p:nvSpPr>
        <p:spPr>
          <a:xfrm xmlns:a="http://schemas.openxmlformats.org/drawingml/2006/main">
            <a:off x="6238875" y="18669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7F73"/>
                </a:solidFill>
                <a:latin typeface="Arial"/>
                <a:ea typeface="Arial"/>
                <a:cs typeface="Arial"/>
              </a:defRPr>
            </a:defPPr>
          </a:lstStyle>
          <a:p xmlns:a="http://schemas.openxmlformats.org/drawingml/2006/main">
            <a:pPr algn="l">
              <a:lnSpc>
                <a:spcPct val="108000"/>
              </a:lnSpc>
              <a:buNone/>
              <a:defRPr sz="1350" b="1">
                <a:solidFill>
                  <a:srgbClr val="007F73"/>
                </a:solidFill>
                <a:latin typeface="Arial"/>
                <a:ea typeface="Arial"/>
                <a:cs typeface="Arial"/>
              </a:defRPr>
            </a:pPr>
            <a:r>
              <a:rPr sz="1350" b="1">
                <a:solidFill>
                  <a:srgbClr val="007F73"/>
                </a:solidFill>
                <a:latin typeface="Arial"/>
                <a:ea typeface="Arial"/>
                <a:cs typeface="Arial"/>
              </a:rPr>
              <a:t>MAIROS DESIGN RULE</a:t>
            </a:r>
          </a:p>
        </p:txBody>
      </p:sp>
      <p:sp>
        <p:nvSpPr>
          <p:cNvPr id="6" name="rule-lead">
            <a:extLst xmlns:a="http://schemas.openxmlformats.org/drawingml/2006/main">
              <a:ext uri="{FF2B5EF4-FFF2-40B4-BE49-F238E27FC236}">
                <a16:creationId xmlns:a16="http://schemas.microsoft.com/office/drawing/2014/main" id="{B1E6A412-3C66-4760-8A8E-9E5805476C6C}"/>
              </a:ext>
            </a:extLst>
          </p:cNvPr>
          <p:cNvSpPr>
            <a:spLocks xmlns:a="http://schemas.openxmlformats.org/drawingml/2006/main" noGrp="1"/>
          </p:cNvSpPr>
          <p:nvPr/>
        </p:nvSpPr>
        <p:spPr>
          <a:xfrm xmlns:a="http://schemas.openxmlformats.org/drawingml/2006/main">
            <a:off x="6238875" y="228600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172623"/>
                </a:solidFill>
                <a:latin typeface="Arial"/>
                <a:ea typeface="Arial"/>
                <a:cs typeface="Arial"/>
              </a:defRPr>
            </a:defPPr>
          </a:lstStyle>
          <a:p xmlns:a="http://schemas.openxmlformats.org/drawingml/2006/main">
            <a:pPr algn="l">
              <a:lnSpc>
                <a:spcPct val="105000"/>
              </a:lnSpc>
              <a:buNone/>
              <a:defRPr sz="3000" b="1">
                <a:solidFill>
                  <a:srgbClr val="172623"/>
                </a:solidFill>
                <a:latin typeface="Arial"/>
                <a:ea typeface="Arial"/>
                <a:cs typeface="Arial"/>
              </a:defRPr>
            </a:pPr>
            <a:r>
              <a:rPr sz="3000" b="1">
                <a:solidFill>
                  <a:srgbClr val="172623"/>
                </a:solidFill>
                <a:latin typeface="Arial"/>
                <a:ea typeface="Arial"/>
                <a:cs typeface="Arial"/>
              </a:rPr>
              <a:t>No displayed claim without a traceable passage.</a:t>
            </a:r>
          </a:p>
        </p:txBody>
      </p:sp>
      <p:sp>
        <p:nvSpPr>
          <p:cNvPr id="7" name="rule-copy">
            <a:extLst xmlns:a="http://schemas.openxmlformats.org/drawingml/2006/main">
              <a:ext uri="{FF2B5EF4-FFF2-40B4-BE49-F238E27FC236}">
                <a16:creationId xmlns:a16="http://schemas.microsoft.com/office/drawing/2014/main" id="{D86EF440-3222-446D-8F74-7BA205E2A629}"/>
              </a:ext>
            </a:extLst>
          </p:cNvPr>
          <p:cNvSpPr>
            <a:spLocks xmlns:a="http://schemas.openxmlformats.org/drawingml/2006/main" noGrp="1"/>
          </p:cNvSpPr>
          <p:nvPr/>
        </p:nvSpPr>
        <p:spPr>
          <a:xfrm xmlns:a="http://schemas.openxmlformats.org/drawingml/2006/main">
            <a:off x="6238875" y="3762375"/>
            <a:ext cx="4953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354741"/>
                </a:solidFill>
                <a:latin typeface="Arial"/>
                <a:ea typeface="Arial"/>
                <a:cs typeface="Arial"/>
              </a:defRPr>
            </a:defPPr>
          </a:lstStyle>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Retrieved evidence, page-level citations, and explicit uncertainty make the answer auditable. If the corpus does not support an answer, MAIROS says so.</a:t>
            </a:r>
          </a:p>
        </p:txBody>
      </p:sp>
    </p:spTree>
    <p:extLst>
      <p:ext uri="{BB962C8B-B14F-4D97-AF65-F5344CB8AC3E}">
        <p14:creationId xmlns:p14="http://schemas.microsoft.com/office/powerpoint/2010/main" val="1673611761"/>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slide-3-title">
            <a:extLst xmlns:a="http://schemas.openxmlformats.org/drawingml/2006/main">
              <a:ext uri="{FF2B5EF4-FFF2-40B4-BE49-F238E27FC236}">
                <a16:creationId xmlns:a16="http://schemas.microsoft.com/office/drawing/2014/main" id="{522B338C-9C25-43FE-B36E-3F8A469356BE}"/>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One research run, from project to evidence</a:t>
            </a:r>
          </a:p>
        </p:txBody>
      </p:sp>
      <p:sp>
        <p:nvSpPr>
          <p:cNvPr id="2" name="slide-3-footer">
            <a:extLst xmlns:a="http://schemas.openxmlformats.org/drawingml/2006/main">
              <a:ext uri="{FF2B5EF4-FFF2-40B4-BE49-F238E27FC236}">
                <a16:creationId xmlns:a16="http://schemas.microsoft.com/office/drawing/2014/main" id="{39DBDA14-A834-46C4-BBE6-E5D6B9861BA1}"/>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03 / 16</a:t>
            </a:r>
          </a:p>
        </p:txBody>
      </p:sp>
      <p:sp>
        <p:nvSpPr>
          <p:cNvPr id="3" name="lifecycle">
            <a:extLst xmlns:a="http://schemas.openxmlformats.org/drawingml/2006/main">
              <a:ext uri="{FF2B5EF4-FFF2-40B4-BE49-F238E27FC236}">
                <a16:creationId xmlns:a16="http://schemas.microsoft.com/office/drawing/2014/main" id="{EA29E34B-D340-4B19-8AA6-88B623853474}"/>
              </a:ext>
            </a:extLst>
          </p:cNvPr>
          <p:cNvSpPr>
            <a:spLocks xmlns:a="http://schemas.openxmlformats.org/drawingml/2006/main" noGrp="1"/>
          </p:cNvSpPr>
          <p:nvPr/>
        </p:nvSpPr>
        <p:spPr>
          <a:xfrm xmlns:a="http://schemas.openxmlformats.org/drawingml/2006/main">
            <a:off x="800100" y="1809750"/>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25" b="1">
                <a:solidFill>
                  <a:srgbClr val="172623"/>
                </a:solidFill>
                <a:latin typeface="Arial"/>
                <a:ea typeface="Arial"/>
                <a:cs typeface="Arial"/>
              </a:defRPr>
            </a:defPPr>
          </a:lstStyle>
          <a:p xmlns:a="http://schemas.openxmlformats.org/drawingml/2006/main">
            <a:pPr algn="ctr">
              <a:lnSpc>
                <a:spcPct val="115000"/>
              </a:lnSpc>
              <a:buNone/>
              <a:defRPr sz="2325" b="1">
                <a:solidFill>
                  <a:srgbClr val="172623"/>
                </a:solidFill>
                <a:latin typeface="Arial"/>
                <a:ea typeface="Arial"/>
                <a:cs typeface="Arial"/>
              </a:defRPr>
            </a:pPr>
            <a:r>
              <a:rPr sz="2325" b="1">
                <a:solidFill>
                  <a:srgbClr val="172623"/>
                </a:solidFill>
                <a:latin typeface="Arial"/>
                <a:ea typeface="Arial"/>
                <a:cs typeface="Arial"/>
              </a:rPr>
              <a:t>Create project  →  Search or upload  →  Extract and chunk</a:t>
            </a:r>
          </a:p>
          <a:p xmlns:a="http://schemas.openxmlformats.org/drawingml/2006/main">
            <a:r>
              <a:t/>
            </a:r>
          </a:p>
          <a:p xmlns:a="http://schemas.openxmlformats.org/drawingml/2006/main">
            <a:pPr algn="ctr">
              <a:lnSpc>
                <a:spcPct val="115000"/>
              </a:lnSpc>
              <a:buNone/>
              <a:defRPr sz="2325" b="1">
                <a:solidFill>
                  <a:srgbClr val="172623"/>
                </a:solidFill>
                <a:latin typeface="Arial"/>
                <a:ea typeface="Arial"/>
                <a:cs typeface="Arial"/>
              </a:defRPr>
            </a:pPr>
            <a:r>
              <a:rPr sz="2325" b="1">
                <a:solidFill>
                  <a:srgbClr val="172623"/>
                </a:solidFill>
                <a:latin typeface="Arial"/>
                <a:ea typeface="Arial"/>
                <a:cs typeface="Arial"/>
              </a:rPr>
              <a:t>Embed and index  →  Orchestrate agents  →  Return cited output</a:t>
            </a:r>
          </a:p>
          <a:p xmlns:a="http://schemas.openxmlformats.org/drawingml/2006/main">
            <a:r>
              <a:t/>
            </a:r>
          </a:p>
          <a:p xmlns:a="http://schemas.openxmlformats.org/drawingml/2006/main">
            <a:pPr algn="ctr">
              <a:lnSpc>
                <a:spcPct val="115000"/>
              </a:lnSpc>
              <a:buNone/>
              <a:defRPr sz="2325" b="1">
                <a:solidFill>
                  <a:srgbClr val="172623"/>
                </a:solidFill>
                <a:latin typeface="Arial"/>
                <a:ea typeface="Arial"/>
                <a:cs typeface="Arial"/>
              </a:defRPr>
            </a:pPr>
            <a:r>
              <a:rPr sz="2325" b="1">
                <a:solidFill>
                  <a:srgbClr val="172623"/>
                </a:solidFill>
                <a:latin typeface="Arial"/>
                <a:ea typeface="Arial"/>
                <a:cs typeface="Arial"/>
              </a:rPr>
              <a:t>Review the task trace  →  Inspect the graph  →  Evaluate retrieval</a:t>
            </a:r>
          </a:p>
        </p:txBody>
      </p:sp>
      <p:sp>
        <p:nvSpPr>
          <p:cNvPr id="4" name="lifecycle-note">
            <a:extLst xmlns:a="http://schemas.openxmlformats.org/drawingml/2006/main">
              <a:ext uri="{FF2B5EF4-FFF2-40B4-BE49-F238E27FC236}">
                <a16:creationId xmlns:a16="http://schemas.microsoft.com/office/drawing/2014/main" id="{6A1B0F77-5331-40C0-8A69-0CE9F87536C8}"/>
              </a:ext>
            </a:extLst>
          </p:cNvPr>
          <p:cNvSpPr>
            <a:spLocks xmlns:a="http://schemas.openxmlformats.org/drawingml/2006/main" noGrp="1"/>
          </p:cNvSpPr>
          <p:nvPr/>
        </p:nvSpPr>
        <p:spPr>
          <a:xfrm xmlns:a="http://schemas.openxmlformats.org/drawingml/2006/main">
            <a:off x="1714500" y="4810125"/>
            <a:ext cx="8763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a:solidFill>
                  <a:srgbClr val="354741"/>
                </a:solidFill>
                <a:latin typeface="Arial"/>
                <a:ea typeface="Arial"/>
                <a:cs typeface="Arial"/>
              </a:defRPr>
            </a:defPPr>
          </a:lstStyle>
          <a:p xmlns:a="http://schemas.openxmlformats.org/drawingml/2006/main">
            <a:pPr algn="ctr">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Persistent project data includes document metadata, indexed chunks, graph structure, and task history. The answer includes its grounding passages so the evidence can be checked.</a:t>
            </a:r>
          </a:p>
        </p:txBody>
      </p:sp>
    </p:spTree>
    <p:extLst>
      <p:ext uri="{BB962C8B-B14F-4D97-AF65-F5344CB8AC3E}">
        <p14:creationId xmlns:p14="http://schemas.microsoft.com/office/powerpoint/2010/main" val="1477572853"/>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slide-4-title">
            <a:extLst xmlns:a="http://schemas.openxmlformats.org/drawingml/2006/main">
              <a:ext uri="{FF2B5EF4-FFF2-40B4-BE49-F238E27FC236}">
                <a16:creationId xmlns:a16="http://schemas.microsoft.com/office/drawing/2014/main" id="{6C2FC5EF-0C86-42A0-A1F5-63B31E992E3B}"/>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System architecture</a:t>
            </a:r>
          </a:p>
        </p:txBody>
      </p:sp>
      <p:sp>
        <p:nvSpPr>
          <p:cNvPr id="2" name="slide-4-footer">
            <a:extLst xmlns:a="http://schemas.openxmlformats.org/drawingml/2006/main">
              <a:ext uri="{FF2B5EF4-FFF2-40B4-BE49-F238E27FC236}">
                <a16:creationId xmlns:a16="http://schemas.microsoft.com/office/drawing/2014/main" id="{94FDFAAD-9FB2-4C8D-8186-F9C0ADAE5521}"/>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04 / 16</a:t>
            </a:r>
          </a:p>
        </p:txBody>
      </p:sp>
      <p:sp>
        <p:nvSpPr>
          <p:cNvPr id="3" name="architecture">
            <a:extLst xmlns:a="http://schemas.openxmlformats.org/drawingml/2006/main">
              <a:ext uri="{FF2B5EF4-FFF2-40B4-BE49-F238E27FC236}">
                <a16:creationId xmlns:a16="http://schemas.microsoft.com/office/drawing/2014/main" id="{BED2CAC6-D0C7-4A33-8CFB-3741BD7BD1CE}"/>
              </a:ext>
            </a:extLst>
          </p:cNvPr>
          <p:cNvSpPr>
            <a:spLocks xmlns:a="http://schemas.openxmlformats.org/drawingml/2006/main" noGrp="1"/>
          </p:cNvSpPr>
          <p:nvPr/>
        </p:nvSpPr>
        <p:spPr>
          <a:xfrm xmlns:a="http://schemas.openxmlformats.org/drawingml/2006/main">
            <a:off x="1428750" y="1476375"/>
            <a:ext cx="933450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75" b="1">
                <a:solidFill>
                  <a:srgbClr val="172623"/>
                </a:solidFill>
                <a:latin typeface="Arial"/>
                <a:ea typeface="Arial"/>
                <a:cs typeface="Arial"/>
              </a:defRPr>
            </a:defPPr>
          </a:lstStyle>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Next.js + TypeScript interface</a:t>
            </a:r>
          </a:p>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  REST requests</a:t>
            </a:r>
          </a:p>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FastAPI project and workflow API</a:t>
            </a:r>
          </a:p>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a:t>
            </a:r>
          </a:p>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Router + registry-based agent orchestrator</a:t>
            </a:r>
          </a:p>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a:t>
            </a:r>
          </a:p>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ChromaDB vectors  ·  NetworkX project graph  ·  SQLite metadata</a:t>
            </a:r>
          </a:p>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a:t>
            </a:r>
          </a:p>
          <a:p xmlns:a="http://schemas.openxmlformats.org/drawingml/2006/main">
            <a:pPr algn="ctr">
              <a:lnSpc>
                <a:spcPct val="110000"/>
              </a:lnSpc>
              <a:buNone/>
              <a:defRPr sz="2175" b="1">
                <a:solidFill>
                  <a:srgbClr val="172623"/>
                </a:solidFill>
                <a:latin typeface="Arial"/>
                <a:ea typeface="Arial"/>
                <a:cs typeface="Arial"/>
              </a:defRPr>
            </a:pPr>
            <a:r>
              <a:rPr sz="2175" b="1">
                <a:solidFill>
                  <a:srgbClr val="172623"/>
                </a:solidFill>
                <a:latin typeface="Arial"/>
                <a:ea typeface="Arial"/>
                <a:cs typeface="Arial"/>
              </a:rPr>
              <a:t>Groq language model  /  deterministic offline fallback</a:t>
            </a:r>
          </a:p>
        </p:txBody>
      </p:sp>
      <p:sp>
        <p:nvSpPr>
          <p:cNvPr id="4" name="architecture-note">
            <a:extLst xmlns:a="http://schemas.openxmlformats.org/drawingml/2006/main">
              <a:ext uri="{FF2B5EF4-FFF2-40B4-BE49-F238E27FC236}">
                <a16:creationId xmlns:a16="http://schemas.microsoft.com/office/drawing/2014/main" id="{A14D4D39-3F53-4E48-976D-88F54FF785C8}"/>
              </a:ext>
            </a:extLst>
          </p:cNvPr>
          <p:cNvSpPr>
            <a:spLocks xmlns:a="http://schemas.openxmlformats.org/drawingml/2006/main" noGrp="1"/>
          </p:cNvSpPr>
          <p:nvPr/>
        </p:nvSpPr>
        <p:spPr>
          <a:xfrm xmlns:a="http://schemas.openxmlformats.org/drawingml/2006/main">
            <a:off x="1905000" y="5762625"/>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a:solidFill>
                  <a:srgbClr val="65756F"/>
                </a:solidFill>
                <a:latin typeface="Arial"/>
                <a:ea typeface="Arial"/>
                <a:cs typeface="Arial"/>
              </a:defRPr>
            </a:defPPr>
          </a:lstStyle>
          <a:p xmlns:a="http://schemas.openxmlformats.org/drawingml/2006/main">
            <a:pPr algn="ctr">
              <a:lnSpc>
                <a:spcPct val="108000"/>
              </a:lnSpc>
              <a:buNone/>
              <a:defRPr sz="1500">
                <a:solidFill>
                  <a:srgbClr val="65756F"/>
                </a:solidFill>
                <a:latin typeface="Arial"/>
                <a:ea typeface="Arial"/>
                <a:cs typeface="Arial"/>
              </a:defRPr>
            </a:pPr>
            <a:r>
              <a:rPr sz="1500">
                <a:solidFill>
                  <a:srgbClr val="65756F"/>
                </a:solidFill>
                <a:latin typeface="Arial"/>
                <a:ea typeface="Arial"/>
                <a:cs typeface="Arial"/>
              </a:rPr>
              <a:t>No Docker or separate database server is required for the local demo.</a:t>
            </a:r>
          </a:p>
        </p:txBody>
      </p:sp>
    </p:spTree>
    <p:extLst>
      <p:ext uri="{BB962C8B-B14F-4D97-AF65-F5344CB8AC3E}">
        <p14:creationId xmlns:p14="http://schemas.microsoft.com/office/powerpoint/2010/main" val="13701750"/>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slide-5-title">
            <a:extLst xmlns:a="http://schemas.openxmlformats.org/drawingml/2006/main">
              <a:ext uri="{FF2B5EF4-FFF2-40B4-BE49-F238E27FC236}">
                <a16:creationId xmlns:a16="http://schemas.microsoft.com/office/drawing/2014/main" id="{E5621A4A-51EE-4237-A771-489861655704}"/>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Test case setup: create a project and add sources</a:t>
            </a:r>
          </a:p>
        </p:txBody>
      </p:sp>
      <p:sp>
        <p:nvSpPr>
          <p:cNvPr id="2" name="slide-5-footer">
            <a:extLst xmlns:a="http://schemas.openxmlformats.org/drawingml/2006/main">
              <a:ext uri="{FF2B5EF4-FFF2-40B4-BE49-F238E27FC236}">
                <a16:creationId xmlns:a16="http://schemas.microsoft.com/office/drawing/2014/main" id="{173965E2-090A-4202-81A2-2D2C49BC8905}"/>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05 / 16</a:t>
            </a:r>
          </a:p>
        </p:txBody>
      </p:sp>
      <p:sp>
        <p:nvSpPr>
          <p:cNvPr id="3" name="project-label">
            <a:extLst xmlns:a="http://schemas.openxmlformats.org/drawingml/2006/main">
              <a:ext uri="{FF2B5EF4-FFF2-40B4-BE49-F238E27FC236}">
                <a16:creationId xmlns:a16="http://schemas.microsoft.com/office/drawing/2014/main" id="{8764EDD0-359E-411B-B6EE-BE8F66B04977}"/>
              </a:ext>
            </a:extLst>
          </p:cNvPr>
          <p:cNvSpPr>
            <a:spLocks xmlns:a="http://schemas.openxmlformats.org/drawingml/2006/main" noGrp="1"/>
          </p:cNvSpPr>
          <p:nvPr/>
        </p:nvSpPr>
        <p:spPr>
          <a:xfrm xmlns:a="http://schemas.openxmlformats.org/drawingml/2006/main">
            <a:off x="800100" y="16002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7F73"/>
                </a:solidFill>
                <a:latin typeface="Arial"/>
                <a:ea typeface="Arial"/>
                <a:cs typeface="Arial"/>
              </a:defRPr>
            </a:defPPr>
          </a:lstStyle>
          <a:p xmlns:a="http://schemas.openxmlformats.org/drawingml/2006/main">
            <a:pPr algn="l">
              <a:lnSpc>
                <a:spcPct val="108000"/>
              </a:lnSpc>
              <a:buNone/>
              <a:defRPr sz="1350" b="1">
                <a:solidFill>
                  <a:srgbClr val="007F73"/>
                </a:solidFill>
                <a:latin typeface="Arial"/>
                <a:ea typeface="Arial"/>
                <a:cs typeface="Arial"/>
              </a:defRPr>
            </a:pPr>
            <a:r>
              <a:rPr sz="1350" b="1">
                <a:solidFill>
                  <a:srgbClr val="007F73"/>
                </a:solidFill>
                <a:latin typeface="Arial"/>
                <a:ea typeface="Arial"/>
                <a:cs typeface="Arial"/>
              </a:rPr>
              <a:t>PROJECT DETAILS</a:t>
            </a:r>
          </a:p>
        </p:txBody>
      </p:sp>
      <p:sp>
        <p:nvSpPr>
          <p:cNvPr id="4" name="project-details">
            <a:extLst xmlns:a="http://schemas.openxmlformats.org/drawingml/2006/main">
              <a:ext uri="{FF2B5EF4-FFF2-40B4-BE49-F238E27FC236}">
                <a16:creationId xmlns:a16="http://schemas.microsoft.com/office/drawing/2014/main" id="{9BAB4525-B613-47C9-ACB1-3160BFC31DC9}"/>
              </a:ext>
            </a:extLst>
          </p:cNvPr>
          <p:cNvSpPr>
            <a:spLocks xmlns:a="http://schemas.openxmlformats.org/drawingml/2006/main" noGrp="1"/>
          </p:cNvSpPr>
          <p:nvPr/>
        </p:nvSpPr>
        <p:spPr>
          <a:xfrm xmlns:a="http://schemas.openxmlformats.org/drawingml/2006/main">
            <a:off x="800100" y="2000250"/>
            <a:ext cx="476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a:solidFill>
                  <a:srgbClr val="172623"/>
                </a:solidFill>
                <a:latin typeface="Arial"/>
                <a:ea typeface="Arial"/>
                <a:cs typeface="Arial"/>
              </a:defRPr>
            </a:defPPr>
          </a:lstStyle>
          <a:p xmlns:a="http://schemas.openxmlformats.org/drawingml/2006/main">
            <a:pPr algn="l">
              <a:lnSpc>
                <a:spcPct val="113000"/>
              </a:lnSpc>
              <a:buNone/>
              <a:defRPr sz="1875">
                <a:solidFill>
                  <a:srgbClr val="172623"/>
                </a:solidFill>
                <a:latin typeface="Arial"/>
                <a:ea typeface="Arial"/>
                <a:cs typeface="Arial"/>
              </a:defRPr>
            </a:pPr>
            <a:r>
              <a:rPr sz="1875">
                <a:solidFill>
                  <a:srgbClr val="172623"/>
                </a:solidFill>
                <a:latin typeface="Arial"/>
                <a:ea typeface="Arial"/>
                <a:cs typeface="Arial"/>
              </a:rPr>
              <a:t>Name</a:t>
            </a:r>
          </a:p>
          <a:p xmlns:a="http://schemas.openxmlformats.org/drawingml/2006/main">
            <a:pPr algn="l">
              <a:lnSpc>
                <a:spcPct val="113000"/>
              </a:lnSpc>
              <a:buNone/>
              <a:defRPr sz="1875">
                <a:solidFill>
                  <a:srgbClr val="172623"/>
                </a:solidFill>
                <a:latin typeface="Arial"/>
                <a:ea typeface="Arial"/>
                <a:cs typeface="Arial"/>
              </a:defRPr>
            </a:pPr>
            <a:r>
              <a:rPr sz="1875">
                <a:solidFill>
                  <a:srgbClr val="172623"/>
                </a:solidFill>
                <a:latin typeface="Arial"/>
                <a:ea typeface="Arial"/>
                <a:cs typeface="Arial"/>
              </a:rPr>
              <a:t>RAG Literature Demo</a:t>
            </a:r>
          </a:p>
          <a:p xmlns:a="http://schemas.openxmlformats.org/drawingml/2006/main">
            <a:r>
              <a:t/>
            </a:r>
          </a:p>
          <a:p xmlns:a="http://schemas.openxmlformats.org/drawingml/2006/main">
            <a:pPr algn="l">
              <a:lnSpc>
                <a:spcPct val="113000"/>
              </a:lnSpc>
              <a:buNone/>
              <a:defRPr sz="1875">
                <a:solidFill>
                  <a:srgbClr val="172623"/>
                </a:solidFill>
                <a:latin typeface="Arial"/>
                <a:ea typeface="Arial"/>
                <a:cs typeface="Arial"/>
              </a:defRPr>
            </a:pPr>
            <a:r>
              <a:rPr sz="1875">
                <a:solidFill>
                  <a:srgbClr val="172623"/>
                </a:solidFill>
                <a:latin typeface="Arial"/>
                <a:ea typeface="Arial"/>
                <a:cs typeface="Arial"/>
              </a:rPr>
              <a:t>Description</a:t>
            </a:r>
          </a:p>
          <a:p xmlns:a="http://schemas.openxmlformats.org/drawingml/2006/main">
            <a:pPr algn="l">
              <a:lnSpc>
                <a:spcPct val="113000"/>
              </a:lnSpc>
              <a:buNone/>
              <a:defRPr sz="1875">
                <a:solidFill>
                  <a:srgbClr val="172623"/>
                </a:solidFill>
                <a:latin typeface="Arial"/>
                <a:ea typeface="Arial"/>
                <a:cs typeface="Arial"/>
              </a:defRPr>
            </a:pPr>
            <a:r>
              <a:rPr sz="1875">
                <a:solidFill>
                  <a:srgbClr val="172623"/>
                </a:solidFill>
                <a:latin typeface="Arial"/>
                <a:ea typeface="Arial"/>
                <a:cs typeface="Arial"/>
              </a:rPr>
              <a:t>Evidence-grounded question answering on retrieval-augmented generation and scientific QA.</a:t>
            </a:r>
          </a:p>
        </p:txBody>
      </p:sp>
      <p:sp>
        <p:nvSpPr>
          <p:cNvPr id="5" name="corpus-label">
            <a:extLst xmlns:a="http://schemas.openxmlformats.org/drawingml/2006/main">
              <a:ext uri="{FF2B5EF4-FFF2-40B4-BE49-F238E27FC236}">
                <a16:creationId xmlns:a16="http://schemas.microsoft.com/office/drawing/2014/main" id="{6291B8B5-EBAC-4B27-8A3B-FC3D2687088C}"/>
              </a:ext>
            </a:extLst>
          </p:cNvPr>
          <p:cNvSpPr>
            <a:spLocks xmlns:a="http://schemas.openxmlformats.org/drawingml/2006/main" noGrp="1"/>
          </p:cNvSpPr>
          <p:nvPr/>
        </p:nvSpPr>
        <p:spPr>
          <a:xfrm xmlns:a="http://schemas.openxmlformats.org/drawingml/2006/main">
            <a:off x="6381750" y="1600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7F73"/>
                </a:solidFill>
                <a:latin typeface="Arial"/>
                <a:ea typeface="Arial"/>
                <a:cs typeface="Arial"/>
              </a:defRPr>
            </a:defPPr>
          </a:lstStyle>
          <a:p xmlns:a="http://schemas.openxmlformats.org/drawingml/2006/main">
            <a:pPr algn="l">
              <a:lnSpc>
                <a:spcPct val="108000"/>
              </a:lnSpc>
              <a:buNone/>
              <a:defRPr sz="1350" b="1">
                <a:solidFill>
                  <a:srgbClr val="007F73"/>
                </a:solidFill>
                <a:latin typeface="Arial"/>
                <a:ea typeface="Arial"/>
                <a:cs typeface="Arial"/>
              </a:defRPr>
            </a:pPr>
            <a:r>
              <a:rPr sz="1350" b="1">
                <a:solidFill>
                  <a:srgbClr val="007F73"/>
                </a:solidFill>
                <a:latin typeface="Arial"/>
                <a:ea typeface="Arial"/>
                <a:cs typeface="Arial"/>
              </a:rPr>
              <a:t>CORPUS FOR THE TEST</a:t>
            </a:r>
          </a:p>
        </p:txBody>
      </p:sp>
      <p:sp>
        <p:nvSpPr>
          <p:cNvPr id="6" name="corpus-list">
            <a:extLst xmlns:a="http://schemas.openxmlformats.org/drawingml/2006/main">
              <a:ext uri="{FF2B5EF4-FFF2-40B4-BE49-F238E27FC236}">
                <a16:creationId xmlns:a16="http://schemas.microsoft.com/office/drawing/2014/main" id="{A2840E73-5488-437A-A0EC-CD9F492AE8FC}"/>
              </a:ext>
            </a:extLst>
          </p:cNvPr>
          <p:cNvSpPr>
            <a:spLocks xmlns:a="http://schemas.openxmlformats.org/drawingml/2006/main" noGrp="1"/>
          </p:cNvSpPr>
          <p:nvPr/>
        </p:nvSpPr>
        <p:spPr>
          <a:xfrm xmlns:a="http://schemas.openxmlformats.org/drawingml/2006/main">
            <a:off x="6381750" y="2000250"/>
            <a:ext cx="4857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a:solidFill>
                  <a:srgbClr val="354741"/>
                </a:solidFill>
                <a:latin typeface="Arial"/>
                <a:ea typeface="Arial"/>
                <a:cs typeface="Arial"/>
              </a:defRPr>
            </a:defPPr>
          </a:lstStyle>
          <a:p xmlns:a="http://schemas.openxmlformats.org/drawingml/2006/main">
            <a:pPr marL="254000" indent="-127000" algn="l">
              <a:lnSpc>
                <a:spcPct val="108000"/>
              </a:lnSpc>
              <a:spcAft>
                <a:spcPts val="1000"/>
              </a:spcAft>
              <a:buNone/>
              <a:defRPr sz="1650">
                <a:solidFill>
                  <a:srgbClr val="354741"/>
                </a:solidFill>
                <a:latin typeface="Arial"/>
                <a:ea typeface="Arial"/>
                <a:cs typeface="Arial"/>
              </a:defRPr>
            </a:pPr>
            <a:r>
              <a:rPr sz="1650">
                <a:solidFill>
                  <a:srgbClr val="354741"/>
                </a:solidFill>
                <a:latin typeface="Arial"/>
                <a:ea typeface="Arial"/>
                <a:cs typeface="Arial"/>
              </a:rPr>
              <a:t>Topic search: retrieval-augmented generation for scientific question answering.</a:t>
            </a:r>
          </a:p>
          <a:p xmlns:a="http://schemas.openxmlformats.org/drawingml/2006/main">
            <a:pPr marL="254000" indent="-127000" algn="l">
              <a:lnSpc>
                <a:spcPct val="108000"/>
              </a:lnSpc>
              <a:spcAft>
                <a:spcPts val="1000"/>
              </a:spcAft>
              <a:buNone/>
              <a:defRPr sz="1650">
                <a:solidFill>
                  <a:srgbClr val="354741"/>
                </a:solidFill>
                <a:latin typeface="Arial"/>
                <a:ea typeface="Arial"/>
                <a:cs typeface="Arial"/>
              </a:defRPr>
            </a:pPr>
            <a:r>
              <a:rPr sz="1650">
                <a:solidFill>
                  <a:srgbClr val="354741"/>
                </a:solidFill>
                <a:latin typeface="Arial"/>
                <a:ea typeface="Arial"/>
                <a:cs typeface="Arial"/>
              </a:rPr>
              <a:t>Upload the 10-page synthetic fixture to verify PDF extraction and the 10-chunk path.</a:t>
            </a:r>
          </a:p>
          <a:p xmlns:a="http://schemas.openxmlformats.org/drawingml/2006/main">
            <a:pPr marL="254000" indent="-127000" algn="l">
              <a:lnSpc>
                <a:spcPct val="108000"/>
              </a:lnSpc>
              <a:spcAft>
                <a:spcPts val="1000"/>
              </a:spcAft>
              <a:buNone/>
              <a:defRPr sz="1650">
                <a:solidFill>
                  <a:srgbClr val="354741"/>
                </a:solidFill>
                <a:latin typeface="Arial"/>
                <a:ea typeface="Arial"/>
                <a:cs typeface="Arial"/>
              </a:defRPr>
            </a:pPr>
            <a:r>
              <a:rPr sz="1650">
                <a:solidFill>
                  <a:srgbClr val="354741"/>
                </a:solidFill>
                <a:latin typeface="Arial"/>
                <a:ea typeface="Arial"/>
                <a:cs typeface="Arial"/>
              </a:rPr>
              <a:t>Add two text-based research PDFs for paper comparison and literature workflows.</a:t>
            </a:r>
          </a:p>
        </p:txBody>
      </p:sp>
      <p:sp>
        <p:nvSpPr>
          <p:cNvPr id="7" name="corpus-caveat">
            <a:extLst xmlns:a="http://schemas.openxmlformats.org/drawingml/2006/main">
              <a:ext uri="{FF2B5EF4-FFF2-40B4-BE49-F238E27FC236}">
                <a16:creationId xmlns:a16="http://schemas.microsoft.com/office/drawing/2014/main" id="{561630C0-9287-4FD5-A1F3-23B4C6E63AA6}"/>
              </a:ext>
            </a:extLst>
          </p:cNvPr>
          <p:cNvSpPr>
            <a:spLocks xmlns:a="http://schemas.openxmlformats.org/drawingml/2006/main" noGrp="1"/>
          </p:cNvSpPr>
          <p:nvPr/>
        </p:nvSpPr>
        <p:spPr>
          <a:xfrm xmlns:a="http://schemas.openxmlformats.org/drawingml/2006/main">
            <a:off x="6381750" y="51435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i="1">
                <a:solidFill>
                  <a:srgbClr val="65756F"/>
                </a:solidFill>
                <a:latin typeface="Arial"/>
                <a:ea typeface="Arial"/>
                <a:cs typeface="Arial"/>
              </a:defRPr>
            </a:defPPr>
          </a:lstStyle>
          <a:p xmlns:a="http://schemas.openxmlformats.org/drawingml/2006/main">
            <a:pPr algn="l">
              <a:lnSpc>
                <a:spcPct val="108000"/>
              </a:lnSpc>
              <a:buNone/>
              <a:defRPr sz="1500" i="1">
                <a:solidFill>
                  <a:srgbClr val="65756F"/>
                </a:solidFill>
                <a:latin typeface="Arial"/>
                <a:ea typeface="Arial"/>
                <a:cs typeface="Arial"/>
              </a:defRPr>
            </a:pPr>
            <a:r>
              <a:rPr sz="1500" i="1">
                <a:solidFill>
                  <a:srgbClr val="65756F"/>
                </a:solidFill>
                <a:latin typeface="Arial"/>
                <a:ea typeface="Arial"/>
                <a:cs typeface="Arial"/>
              </a:rPr>
              <a:t>Use the fixture for predictable ingestion and evaluation checks; do not present it as a research source.</a:t>
            </a:r>
          </a:p>
        </p:txBody>
      </p:sp>
    </p:spTree>
    <p:extLst>
      <p:ext uri="{BB962C8B-B14F-4D97-AF65-F5344CB8AC3E}">
        <p14:creationId xmlns:p14="http://schemas.microsoft.com/office/powerpoint/2010/main" val="19003571"/>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slide-6-title">
            <a:extLst xmlns:a="http://schemas.openxmlformats.org/drawingml/2006/main">
              <a:ext uri="{FF2B5EF4-FFF2-40B4-BE49-F238E27FC236}">
                <a16:creationId xmlns:a16="http://schemas.microsoft.com/office/drawing/2014/main" id="{762BEEFC-952B-47A2-8348-D9785475A5C1}"/>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Topic search and Chat &amp; Q&amp;A</a:t>
            </a:r>
          </a:p>
        </p:txBody>
      </p:sp>
      <p:sp>
        <p:nvSpPr>
          <p:cNvPr id="2" name="slide-6-footer">
            <a:extLst xmlns:a="http://schemas.openxmlformats.org/drawingml/2006/main">
              <a:ext uri="{FF2B5EF4-FFF2-40B4-BE49-F238E27FC236}">
                <a16:creationId xmlns:a16="http://schemas.microsoft.com/office/drawing/2014/main" id="{E9679A5D-E387-430B-9030-3FFF5AEC3CB5}"/>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06 / 16</a:t>
            </a:r>
          </a:p>
        </p:txBody>
      </p:sp>
      <p:sp>
        <p:nvSpPr>
          <p:cNvPr id="3" name="search-label">
            <a:extLst xmlns:a="http://schemas.openxmlformats.org/drawingml/2006/main">
              <a:ext uri="{FF2B5EF4-FFF2-40B4-BE49-F238E27FC236}">
                <a16:creationId xmlns:a16="http://schemas.microsoft.com/office/drawing/2014/main" id="{4B0D294F-60AA-4D64-B802-132F11D9EAEE}"/>
              </a:ext>
            </a:extLst>
          </p:cNvPr>
          <p:cNvSpPr>
            <a:spLocks xmlns:a="http://schemas.openxmlformats.org/drawingml/2006/main" noGrp="1"/>
          </p:cNvSpPr>
          <p:nvPr/>
        </p:nvSpPr>
        <p:spPr>
          <a:xfrm xmlns:a="http://schemas.openxmlformats.org/drawingml/2006/main">
            <a:off x="819150" y="16573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7F73"/>
                </a:solidFill>
                <a:latin typeface="Arial"/>
                <a:ea typeface="Arial"/>
                <a:cs typeface="Arial"/>
              </a:defRPr>
            </a:defPPr>
          </a:lstStyle>
          <a:p xmlns:a="http://schemas.openxmlformats.org/drawingml/2006/main">
            <a:pPr algn="l">
              <a:lnSpc>
                <a:spcPct val="108000"/>
              </a:lnSpc>
              <a:buNone/>
              <a:defRPr sz="1350" b="1">
                <a:solidFill>
                  <a:srgbClr val="007F73"/>
                </a:solidFill>
                <a:latin typeface="Arial"/>
                <a:ea typeface="Arial"/>
                <a:cs typeface="Arial"/>
              </a:defRPr>
            </a:pPr>
            <a:r>
              <a:rPr sz="1350" b="1">
                <a:solidFill>
                  <a:srgbClr val="007F73"/>
                </a:solidFill>
                <a:latin typeface="Arial"/>
                <a:ea typeface="Arial"/>
                <a:cs typeface="Arial"/>
              </a:rPr>
              <a:t>TOPIC SEARCH</a:t>
            </a:r>
          </a:p>
        </p:txBody>
      </p:sp>
      <p:sp>
        <p:nvSpPr>
          <p:cNvPr id="4" name="search-prompt">
            <a:extLst xmlns:a="http://schemas.openxmlformats.org/drawingml/2006/main">
              <a:ext uri="{FF2B5EF4-FFF2-40B4-BE49-F238E27FC236}">
                <a16:creationId xmlns:a16="http://schemas.microsoft.com/office/drawing/2014/main" id="{5EF8A94B-FDFB-477D-81A2-63B03E0FF612}"/>
              </a:ext>
            </a:extLst>
          </p:cNvPr>
          <p:cNvSpPr>
            <a:spLocks xmlns:a="http://schemas.openxmlformats.org/drawingml/2006/main" noGrp="1"/>
          </p:cNvSpPr>
          <p:nvPr/>
        </p:nvSpPr>
        <p:spPr>
          <a:xfrm xmlns:a="http://schemas.openxmlformats.org/drawingml/2006/main">
            <a:off x="819150" y="2105025"/>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623"/>
                </a:solidFill>
                <a:latin typeface="Arial"/>
                <a:ea typeface="Arial"/>
                <a:cs typeface="Arial"/>
              </a:defRPr>
            </a:defPPr>
          </a:lstStyle>
          <a:p xmlns:a="http://schemas.openxmlformats.org/drawingml/2006/main">
            <a:pPr algn="l">
              <a:lnSpc>
                <a:spcPct val="108000"/>
              </a:lnSpc>
              <a:buNone/>
              <a:defRPr sz="2250" b="1">
                <a:solidFill>
                  <a:srgbClr val="172623"/>
                </a:solidFill>
                <a:latin typeface="Arial"/>
                <a:ea typeface="Arial"/>
                <a:cs typeface="Arial"/>
              </a:defRPr>
            </a:pPr>
            <a:r>
              <a:rPr sz="2250" b="1">
                <a:solidFill>
                  <a:srgbClr val="172623"/>
                </a:solidFill>
                <a:latin typeface="Arial"/>
                <a:ea typeface="Arial"/>
                <a:cs typeface="Arial"/>
              </a:rPr>
              <a:t>retrieval-augmented generation for scientific question answering</a:t>
            </a:r>
          </a:p>
        </p:txBody>
      </p:sp>
      <p:sp>
        <p:nvSpPr>
          <p:cNvPr id="5" name="search-detail">
            <a:extLst xmlns:a="http://schemas.openxmlformats.org/drawingml/2006/main">
              <a:ext uri="{FF2B5EF4-FFF2-40B4-BE49-F238E27FC236}">
                <a16:creationId xmlns:a16="http://schemas.microsoft.com/office/drawing/2014/main" id="{031AA83E-4012-4A7D-95D1-88F9FFBFC3D0}"/>
              </a:ext>
            </a:extLst>
          </p:cNvPr>
          <p:cNvSpPr>
            <a:spLocks xmlns:a="http://schemas.openxmlformats.org/drawingml/2006/main" noGrp="1"/>
          </p:cNvSpPr>
          <p:nvPr/>
        </p:nvSpPr>
        <p:spPr>
          <a:xfrm xmlns:a="http://schemas.openxmlformats.org/drawingml/2006/main">
            <a:off x="819150" y="3914775"/>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a:solidFill>
                  <a:srgbClr val="354741"/>
                </a:solidFill>
                <a:latin typeface="Arial"/>
                <a:ea typeface="Arial"/>
                <a:cs typeface="Arial"/>
              </a:defRPr>
            </a:defPPr>
          </a:lstStyle>
          <a:p xmlns:a="http://schemas.openxmlformats.org/drawingml/2006/main">
            <a:pPr algn="l">
              <a:lnSpc>
                <a:spcPct val="108000"/>
              </a:lnSpc>
              <a:buNone/>
              <a:defRPr sz="1725">
                <a:solidFill>
                  <a:srgbClr val="354741"/>
                </a:solidFill>
                <a:latin typeface="Arial"/>
                <a:ea typeface="Arial"/>
                <a:cs typeface="Arial"/>
              </a:defRPr>
            </a:pPr>
            <a:r>
              <a:rPr sz="1725">
                <a:solidFill>
                  <a:srgbClr val="354741"/>
                </a:solidFill>
                <a:latin typeface="Arial"/>
                <a:ea typeface="Arial"/>
                <a:cs typeface="Arial"/>
              </a:rPr>
              <a:t>The Literature agent finds papers; Indexer adds their text to the project's searchable corpus.</a:t>
            </a:r>
          </a:p>
        </p:txBody>
      </p:sp>
      <p:sp>
        <p:nvSpPr>
          <p:cNvPr id="6" name="chat-label">
            <a:extLst xmlns:a="http://schemas.openxmlformats.org/drawingml/2006/main">
              <a:ext uri="{FF2B5EF4-FFF2-40B4-BE49-F238E27FC236}">
                <a16:creationId xmlns:a16="http://schemas.microsoft.com/office/drawing/2014/main" id="{0242D9A5-D1BF-42DF-8722-6EAE79C094EF}"/>
              </a:ext>
            </a:extLst>
          </p:cNvPr>
          <p:cNvSpPr>
            <a:spLocks xmlns:a="http://schemas.openxmlformats.org/drawingml/2006/main" noGrp="1"/>
          </p:cNvSpPr>
          <p:nvPr/>
        </p:nvSpPr>
        <p:spPr>
          <a:xfrm xmlns:a="http://schemas.openxmlformats.org/drawingml/2006/main">
            <a:off x="6477000" y="16573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7F73"/>
                </a:solidFill>
                <a:latin typeface="Arial"/>
                <a:ea typeface="Arial"/>
                <a:cs typeface="Arial"/>
              </a:defRPr>
            </a:defPPr>
          </a:lstStyle>
          <a:p xmlns:a="http://schemas.openxmlformats.org/drawingml/2006/main">
            <a:pPr algn="l">
              <a:lnSpc>
                <a:spcPct val="108000"/>
              </a:lnSpc>
              <a:buNone/>
              <a:defRPr sz="1350" b="1">
                <a:solidFill>
                  <a:srgbClr val="007F73"/>
                </a:solidFill>
                <a:latin typeface="Arial"/>
                <a:ea typeface="Arial"/>
                <a:cs typeface="Arial"/>
              </a:defRPr>
            </a:pPr>
            <a:r>
              <a:rPr sz="1350" b="1">
                <a:solidFill>
                  <a:srgbClr val="007F73"/>
                </a:solidFill>
                <a:latin typeface="Arial"/>
                <a:ea typeface="Arial"/>
                <a:cs typeface="Arial"/>
              </a:rPr>
              <a:t>CHAT &amp; Q&amp;A QUESTION</a:t>
            </a:r>
          </a:p>
        </p:txBody>
      </p:sp>
      <p:sp>
        <p:nvSpPr>
          <p:cNvPr id="7" name="chat-prompt">
            <a:extLst xmlns:a="http://schemas.openxmlformats.org/drawingml/2006/main">
              <a:ext uri="{FF2B5EF4-FFF2-40B4-BE49-F238E27FC236}">
                <a16:creationId xmlns:a16="http://schemas.microsoft.com/office/drawing/2014/main" id="{CC48D54D-1835-4B07-AE31-94CA3371372A}"/>
              </a:ext>
            </a:extLst>
          </p:cNvPr>
          <p:cNvSpPr>
            <a:spLocks xmlns:a="http://schemas.openxmlformats.org/drawingml/2006/main" noGrp="1"/>
          </p:cNvSpPr>
          <p:nvPr/>
        </p:nvSpPr>
        <p:spPr>
          <a:xfrm xmlns:a="http://schemas.openxmlformats.org/drawingml/2006/main">
            <a:off x="6477000" y="2105025"/>
            <a:ext cx="4857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2623"/>
                </a:solidFill>
                <a:latin typeface="Arial"/>
                <a:ea typeface="Arial"/>
                <a:cs typeface="Arial"/>
              </a:defRPr>
            </a:defPPr>
          </a:lstStyle>
          <a:p xmlns:a="http://schemas.openxmlformats.org/drawingml/2006/main">
            <a:pPr algn="l">
              <a:lnSpc>
                <a:spcPct val="108000"/>
              </a:lnSpc>
              <a:buNone/>
              <a:defRPr sz="2175" b="1">
                <a:solidFill>
                  <a:srgbClr val="172623"/>
                </a:solidFill>
                <a:latin typeface="Arial"/>
                <a:ea typeface="Arial"/>
                <a:cs typeface="Arial"/>
              </a:defRPr>
            </a:pPr>
            <a:r>
              <a:rPr sz="2175" b="1">
                <a:solidFill>
                  <a:srgbClr val="172623"/>
                </a:solidFill>
                <a:latin typeface="Arial"/>
                <a:ea typeface="Arial"/>
                <a:cs typeface="Arial"/>
              </a:rPr>
              <a:t>How does retrieval-augmented generation reduce hallucination?</a:t>
            </a:r>
          </a:p>
        </p:txBody>
      </p:sp>
      <p:sp>
        <p:nvSpPr>
          <p:cNvPr id="8" name="chat-check">
            <a:extLst xmlns:a="http://schemas.openxmlformats.org/drawingml/2006/main">
              <a:ext uri="{FF2B5EF4-FFF2-40B4-BE49-F238E27FC236}">
                <a16:creationId xmlns:a16="http://schemas.microsoft.com/office/drawing/2014/main" id="{ECBDD8B9-0AA6-4260-8607-CFE0CDE638D2}"/>
              </a:ext>
            </a:extLst>
          </p:cNvPr>
          <p:cNvSpPr>
            <a:spLocks xmlns:a="http://schemas.openxmlformats.org/drawingml/2006/main" noGrp="1"/>
          </p:cNvSpPr>
          <p:nvPr/>
        </p:nvSpPr>
        <p:spPr>
          <a:xfrm xmlns:a="http://schemas.openxmlformats.org/drawingml/2006/main">
            <a:off x="6477000" y="3714750"/>
            <a:ext cx="4857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a:solidFill>
                  <a:srgbClr val="354741"/>
                </a:solidFill>
                <a:latin typeface="Arial"/>
                <a:ea typeface="Arial"/>
                <a:cs typeface="Arial"/>
              </a:defRPr>
            </a:defPPr>
          </a:lstStyle>
          <a:p xmlns:a="http://schemas.openxmlformats.org/drawingml/2006/main">
            <a:pPr algn="l">
              <a:lnSpc>
                <a:spcPct val="108000"/>
              </a:lnSpc>
              <a:buNone/>
              <a:defRPr sz="1725">
                <a:solidFill>
                  <a:srgbClr val="354741"/>
                </a:solidFill>
                <a:latin typeface="Arial"/>
                <a:ea typeface="Arial"/>
                <a:cs typeface="Arial"/>
              </a:defRPr>
            </a:pPr>
            <a:r>
              <a:rPr sz="1725">
                <a:solidFill>
                  <a:srgbClr val="354741"/>
                </a:solidFill>
                <a:latin typeface="Arial"/>
                <a:ea typeface="Arial"/>
                <a:cs typeface="Arial"/>
              </a:rPr>
              <a:t>Expected idea: retrieve relevant source passages before generation. Verify the answer's citation and open its supporting passage.</a:t>
            </a:r>
          </a:p>
        </p:txBody>
      </p:sp>
    </p:spTree>
    <p:extLst>
      <p:ext uri="{BB962C8B-B14F-4D97-AF65-F5344CB8AC3E}">
        <p14:creationId xmlns:p14="http://schemas.microsoft.com/office/powerpoint/2010/main" val="1147869834"/>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slide-7-title">
            <a:extLst xmlns:a="http://schemas.openxmlformats.org/drawingml/2006/main">
              <a:ext uri="{FF2B5EF4-FFF2-40B4-BE49-F238E27FC236}">
                <a16:creationId xmlns:a16="http://schemas.microsoft.com/office/drawing/2014/main" id="{2B81F360-067C-4855-822D-845A9097C3FF}"/>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Compare papers</a:t>
            </a:r>
          </a:p>
        </p:txBody>
      </p:sp>
      <p:sp>
        <p:nvSpPr>
          <p:cNvPr id="2" name="slide-7-footer">
            <a:extLst xmlns:a="http://schemas.openxmlformats.org/drawingml/2006/main">
              <a:ext uri="{FF2B5EF4-FFF2-40B4-BE49-F238E27FC236}">
                <a16:creationId xmlns:a16="http://schemas.microsoft.com/office/drawing/2014/main" id="{22D8D6A7-2408-4D8F-8591-93BF64506374}"/>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07 / 16</a:t>
            </a:r>
          </a:p>
        </p:txBody>
      </p:sp>
      <p:sp>
        <p:nvSpPr>
          <p:cNvPr id="3" name="compare-label">
            <a:extLst xmlns:a="http://schemas.openxmlformats.org/drawingml/2006/main">
              <a:ext uri="{FF2B5EF4-FFF2-40B4-BE49-F238E27FC236}">
                <a16:creationId xmlns:a16="http://schemas.microsoft.com/office/drawing/2014/main" id="{15FE5AE4-DDE7-4614-AD76-418200358EA9}"/>
              </a:ext>
            </a:extLst>
          </p:cNvPr>
          <p:cNvSpPr>
            <a:spLocks xmlns:a="http://schemas.openxmlformats.org/drawingml/2006/main" noGrp="1"/>
          </p:cNvSpPr>
          <p:nvPr/>
        </p:nvSpPr>
        <p:spPr>
          <a:xfrm xmlns:a="http://schemas.openxmlformats.org/drawingml/2006/main">
            <a:off x="800100" y="15621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7F73"/>
                </a:solidFill>
                <a:latin typeface="Arial"/>
                <a:ea typeface="Arial"/>
                <a:cs typeface="Arial"/>
              </a:defRPr>
            </a:defPPr>
          </a:lstStyle>
          <a:p xmlns:a="http://schemas.openxmlformats.org/drawingml/2006/main">
            <a:pPr algn="l">
              <a:lnSpc>
                <a:spcPct val="108000"/>
              </a:lnSpc>
              <a:buNone/>
              <a:defRPr sz="1350" b="1">
                <a:solidFill>
                  <a:srgbClr val="007F73"/>
                </a:solidFill>
                <a:latin typeface="Arial"/>
                <a:ea typeface="Arial"/>
                <a:cs typeface="Arial"/>
              </a:defRPr>
            </a:pPr>
            <a:r>
              <a:rPr sz="1350" b="1">
                <a:solidFill>
                  <a:srgbClr val="007F73"/>
                </a:solidFill>
                <a:latin typeface="Arial"/>
                <a:ea typeface="Arial"/>
                <a:cs typeface="Arial"/>
              </a:rPr>
              <a:t>PROMPT TO ENTER</a:t>
            </a:r>
          </a:p>
        </p:txBody>
      </p:sp>
      <p:sp>
        <p:nvSpPr>
          <p:cNvPr id="4" name="compare-prompt">
            <a:extLst xmlns:a="http://schemas.openxmlformats.org/drawingml/2006/main">
              <a:ext uri="{FF2B5EF4-FFF2-40B4-BE49-F238E27FC236}">
                <a16:creationId xmlns:a16="http://schemas.microsoft.com/office/drawing/2014/main" id="{8111E8D7-A2D7-463C-89EF-D95A9D29A967}"/>
              </a:ext>
            </a:extLst>
          </p:cNvPr>
          <p:cNvSpPr>
            <a:spLocks xmlns:a="http://schemas.openxmlformats.org/drawingml/2006/main" noGrp="1"/>
          </p:cNvSpPr>
          <p:nvPr/>
        </p:nvSpPr>
        <p:spPr>
          <a:xfrm xmlns:a="http://schemas.openxmlformats.org/drawingml/2006/main">
            <a:off x="800100" y="2000250"/>
            <a:ext cx="10382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623"/>
                </a:solidFill>
                <a:latin typeface="Arial"/>
                <a:ea typeface="Arial"/>
                <a:cs typeface="Arial"/>
              </a:defRPr>
            </a:defPPr>
          </a:lstStyle>
          <a:p xmlns:a="http://schemas.openxmlformats.org/drawingml/2006/main">
            <a:pPr algn="l">
              <a:lnSpc>
                <a:spcPct val="113000"/>
              </a:lnSpc>
              <a:buNone/>
              <a:defRPr sz="2325" b="1">
                <a:solidFill>
                  <a:srgbClr val="172623"/>
                </a:solidFill>
                <a:latin typeface="Arial"/>
                <a:ea typeface="Arial"/>
                <a:cs typeface="Arial"/>
              </a:defRPr>
            </a:pPr>
            <a:r>
              <a:rPr sz="2325" b="1">
                <a:solidFill>
                  <a:srgbClr val="172623"/>
                </a:solidFill>
                <a:latin typeface="Arial"/>
                <a:ea typeface="Arial"/>
                <a:cs typeface="Arial"/>
              </a:rPr>
              <a:t>Compare these papers across their research question, method, datasets, reported results, and stated limitations. Cite every cell; omit any cell the sources do not support.</a:t>
            </a:r>
          </a:p>
        </p:txBody>
      </p:sp>
      <p:sp>
        <p:nvSpPr>
          <p:cNvPr id="5" name="compare-output">
            <a:extLst xmlns:a="http://schemas.openxmlformats.org/drawingml/2006/main">
              <a:ext uri="{FF2B5EF4-FFF2-40B4-BE49-F238E27FC236}">
                <a16:creationId xmlns:a16="http://schemas.microsoft.com/office/drawing/2014/main" id="{301C4794-9FD3-44FB-AA69-75F01FE5BE5E}"/>
              </a:ext>
            </a:extLst>
          </p:cNvPr>
          <p:cNvSpPr>
            <a:spLocks xmlns:a="http://schemas.openxmlformats.org/drawingml/2006/main" noGrp="1"/>
          </p:cNvSpPr>
          <p:nvPr/>
        </p:nvSpPr>
        <p:spPr>
          <a:xfrm xmlns:a="http://schemas.openxmlformats.org/drawingml/2006/main">
            <a:off x="800100" y="4333875"/>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354741"/>
                </a:solidFill>
                <a:latin typeface="Arial"/>
                <a:ea typeface="Arial"/>
                <a:cs typeface="Arial"/>
              </a:defRPr>
            </a:defPPr>
          </a:lstStyle>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Expected output: a dimension-by-paper table. Each visible cell links to its source passage; missing evidence stays blank or is reported as unsupported.</a:t>
            </a:r>
          </a:p>
        </p:txBody>
      </p:sp>
      <p:sp>
        <p:nvSpPr>
          <p:cNvPr id="6" name="compare-prereq">
            <a:extLst xmlns:a="http://schemas.openxmlformats.org/drawingml/2006/main">
              <a:ext uri="{FF2B5EF4-FFF2-40B4-BE49-F238E27FC236}">
                <a16:creationId xmlns:a16="http://schemas.microsoft.com/office/drawing/2014/main" id="{BAE289F3-AA44-45EB-95C9-ECD27C0FD3D5}"/>
              </a:ext>
            </a:extLst>
          </p:cNvPr>
          <p:cNvSpPr>
            <a:spLocks xmlns:a="http://schemas.openxmlformats.org/drawingml/2006/main" noGrp="1"/>
          </p:cNvSpPr>
          <p:nvPr/>
        </p:nvSpPr>
        <p:spPr>
          <a:xfrm xmlns:a="http://schemas.openxmlformats.org/drawingml/2006/main">
            <a:off x="800100" y="563880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C65D36"/>
                </a:solidFill>
                <a:latin typeface="Arial"/>
                <a:ea typeface="Arial"/>
                <a:cs typeface="Arial"/>
              </a:defRPr>
            </a:defPPr>
          </a:lstStyle>
          <a:p xmlns:a="http://schemas.openxmlformats.org/drawingml/2006/main">
            <a:pPr algn="l">
              <a:lnSpc>
                <a:spcPct val="108000"/>
              </a:lnSpc>
              <a:buNone/>
              <a:defRPr sz="1500" b="1">
                <a:solidFill>
                  <a:srgbClr val="C65D36"/>
                </a:solidFill>
                <a:latin typeface="Arial"/>
                <a:ea typeface="Arial"/>
                <a:cs typeface="Arial"/>
              </a:defRPr>
            </a:pPr>
            <a:r>
              <a:rPr sz="1500" b="1">
                <a:solidFill>
                  <a:srgbClr val="C65D36"/>
                </a:solidFill>
                <a:latin typeface="Arial"/>
                <a:ea typeface="Arial"/>
                <a:cs typeface="Arial"/>
              </a:rPr>
              <a:t>Prerequisite: at least two papers with overlapping subject matter.</a:t>
            </a:r>
          </a:p>
        </p:txBody>
      </p:sp>
    </p:spTree>
    <p:extLst>
      <p:ext uri="{BB962C8B-B14F-4D97-AF65-F5344CB8AC3E}">
        <p14:creationId xmlns:p14="http://schemas.microsoft.com/office/powerpoint/2010/main" val="1223364122"/>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slide-8-title">
            <a:extLst xmlns:a="http://schemas.openxmlformats.org/drawingml/2006/main">
              <a:ext uri="{FF2B5EF4-FFF2-40B4-BE49-F238E27FC236}">
                <a16:creationId xmlns:a16="http://schemas.microsoft.com/office/drawing/2014/main" id="{55151645-9641-49F4-9C3D-6DC9DCBD1635}"/>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Detect research gaps</a:t>
            </a:r>
          </a:p>
        </p:txBody>
      </p:sp>
      <p:sp>
        <p:nvSpPr>
          <p:cNvPr id="2" name="slide-8-footer">
            <a:extLst xmlns:a="http://schemas.openxmlformats.org/drawingml/2006/main">
              <a:ext uri="{FF2B5EF4-FFF2-40B4-BE49-F238E27FC236}">
                <a16:creationId xmlns:a16="http://schemas.microsoft.com/office/drawing/2014/main" id="{FEC4DAD7-FD97-4E3F-9111-8A8002F591A0}"/>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08 / 16</a:t>
            </a:r>
          </a:p>
        </p:txBody>
      </p:sp>
      <p:sp>
        <p:nvSpPr>
          <p:cNvPr id="3" name="gap-label">
            <a:extLst xmlns:a="http://schemas.openxmlformats.org/drawingml/2006/main">
              <a:ext uri="{FF2B5EF4-FFF2-40B4-BE49-F238E27FC236}">
                <a16:creationId xmlns:a16="http://schemas.microsoft.com/office/drawing/2014/main" id="{C976A1B9-150E-43FE-81F1-C072A1FD820E}"/>
              </a:ext>
            </a:extLst>
          </p:cNvPr>
          <p:cNvSpPr>
            <a:spLocks xmlns:a="http://schemas.openxmlformats.org/drawingml/2006/main" noGrp="1"/>
          </p:cNvSpPr>
          <p:nvPr/>
        </p:nvSpPr>
        <p:spPr>
          <a:xfrm xmlns:a="http://schemas.openxmlformats.org/drawingml/2006/main">
            <a:off x="800100" y="15621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7F73"/>
                </a:solidFill>
                <a:latin typeface="Arial"/>
                <a:ea typeface="Arial"/>
                <a:cs typeface="Arial"/>
              </a:defRPr>
            </a:defPPr>
          </a:lstStyle>
          <a:p xmlns:a="http://schemas.openxmlformats.org/drawingml/2006/main">
            <a:pPr algn="l">
              <a:lnSpc>
                <a:spcPct val="108000"/>
              </a:lnSpc>
              <a:buNone/>
              <a:defRPr sz="1350" b="1">
                <a:solidFill>
                  <a:srgbClr val="007F73"/>
                </a:solidFill>
                <a:latin typeface="Arial"/>
                <a:ea typeface="Arial"/>
                <a:cs typeface="Arial"/>
              </a:defRPr>
            </a:pPr>
            <a:r>
              <a:rPr sz="1350" b="1">
                <a:solidFill>
                  <a:srgbClr val="007F73"/>
                </a:solidFill>
                <a:latin typeface="Arial"/>
                <a:ea typeface="Arial"/>
                <a:cs typeface="Arial"/>
              </a:rPr>
              <a:t>PROMPT TO ENTER</a:t>
            </a:r>
          </a:p>
        </p:txBody>
      </p:sp>
      <p:sp>
        <p:nvSpPr>
          <p:cNvPr id="4" name="gap-prompt">
            <a:extLst xmlns:a="http://schemas.openxmlformats.org/drawingml/2006/main">
              <a:ext uri="{FF2B5EF4-FFF2-40B4-BE49-F238E27FC236}">
                <a16:creationId xmlns:a16="http://schemas.microsoft.com/office/drawing/2014/main" id="{2476529B-FAC0-42C6-B1A4-18947512C822}"/>
              </a:ext>
            </a:extLst>
          </p:cNvPr>
          <p:cNvSpPr>
            <a:spLocks xmlns:a="http://schemas.openxmlformats.org/drawingml/2006/main" noGrp="1"/>
          </p:cNvSpPr>
          <p:nvPr/>
        </p:nvSpPr>
        <p:spPr>
          <a:xfrm xmlns:a="http://schemas.openxmlformats.org/drawingml/2006/main">
            <a:off x="800100" y="2000250"/>
            <a:ext cx="10382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623"/>
                </a:solidFill>
                <a:latin typeface="Arial"/>
                <a:ea typeface="Arial"/>
                <a:cs typeface="Arial"/>
              </a:defRPr>
            </a:defPPr>
          </a:lstStyle>
          <a:p xmlns:a="http://schemas.openxmlformats.org/drawingml/2006/main">
            <a:pPr algn="l">
              <a:lnSpc>
                <a:spcPct val="113000"/>
              </a:lnSpc>
              <a:buNone/>
              <a:defRPr sz="2250" b="1">
                <a:solidFill>
                  <a:srgbClr val="172623"/>
                </a:solidFill>
                <a:latin typeface="Arial"/>
                <a:ea typeface="Arial"/>
                <a:cs typeface="Arial"/>
              </a:defRPr>
            </a:pPr>
            <a:r>
              <a:rPr sz="2250" b="1">
                <a:solidFill>
                  <a:srgbClr val="172623"/>
                </a:solidFill>
                <a:latin typeface="Arial"/>
                <a:ea typeface="Arial"/>
                <a:cs typeface="Arial"/>
              </a:rPr>
              <a:t>Identify the explicitly stated open problems and limitations across these papers. Quote the sentence supporting each gap, and separate graph-derived coverage signals from paper-reported gaps.</a:t>
            </a:r>
          </a:p>
        </p:txBody>
      </p:sp>
      <p:sp>
        <p:nvSpPr>
          <p:cNvPr id="5" name="gap-output">
            <a:extLst xmlns:a="http://schemas.openxmlformats.org/drawingml/2006/main">
              <a:ext uri="{FF2B5EF4-FFF2-40B4-BE49-F238E27FC236}">
                <a16:creationId xmlns:a16="http://schemas.microsoft.com/office/drawing/2014/main" id="{7C2C1AA0-67FD-470C-8ECE-6F7BC3885198}"/>
              </a:ext>
            </a:extLst>
          </p:cNvPr>
          <p:cNvSpPr>
            <a:spLocks xmlns:a="http://schemas.openxmlformats.org/drawingml/2006/main" noGrp="1"/>
          </p:cNvSpPr>
          <p:nvPr/>
        </p:nvSpPr>
        <p:spPr>
          <a:xfrm xmlns:a="http://schemas.openxmlformats.org/drawingml/2006/main">
            <a:off x="800100" y="4333875"/>
            <a:ext cx="971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354741"/>
                </a:solidFill>
                <a:latin typeface="Arial"/>
                <a:ea typeface="Arial"/>
                <a:cs typeface="Arial"/>
              </a:defRPr>
            </a:defPPr>
          </a:lstStyle>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Read the two result types separately: quoted limitations are findings in the papers; graph signals are prompts for further reading.</a:t>
            </a:r>
          </a:p>
        </p:txBody>
      </p:sp>
    </p:spTree>
    <p:extLst>
      <p:ext uri="{BB962C8B-B14F-4D97-AF65-F5344CB8AC3E}">
        <p14:creationId xmlns:p14="http://schemas.microsoft.com/office/powerpoint/2010/main" val="1416601009"/>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slide-9-title">
            <a:extLst xmlns:a="http://schemas.openxmlformats.org/drawingml/2006/main">
              <a:ext uri="{FF2B5EF4-FFF2-40B4-BE49-F238E27FC236}">
                <a16:creationId xmlns:a16="http://schemas.microsoft.com/office/drawing/2014/main" id="{53D08166-B699-4760-9CF3-3AFA66C27CFE}"/>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Run a literature review</a:t>
            </a:r>
          </a:p>
        </p:txBody>
      </p:sp>
      <p:sp>
        <p:nvSpPr>
          <p:cNvPr id="2" name="slide-9-footer">
            <a:extLst xmlns:a="http://schemas.openxmlformats.org/drawingml/2006/main">
              <a:ext uri="{FF2B5EF4-FFF2-40B4-BE49-F238E27FC236}">
                <a16:creationId xmlns:a16="http://schemas.microsoft.com/office/drawing/2014/main" id="{CE1AF12A-1A20-44A2-8D64-BE0345595B95}"/>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09 / 16</a:t>
            </a:r>
          </a:p>
        </p:txBody>
      </p:sp>
      <p:sp>
        <p:nvSpPr>
          <p:cNvPr id="3" name="review-label">
            <a:extLst xmlns:a="http://schemas.openxmlformats.org/drawingml/2006/main">
              <a:ext uri="{FF2B5EF4-FFF2-40B4-BE49-F238E27FC236}">
                <a16:creationId xmlns:a16="http://schemas.microsoft.com/office/drawing/2014/main" id="{89F8A1CC-D9F2-4B0A-A438-F580209E989C}"/>
              </a:ext>
            </a:extLst>
          </p:cNvPr>
          <p:cNvSpPr>
            <a:spLocks xmlns:a="http://schemas.openxmlformats.org/drawingml/2006/main" noGrp="1"/>
          </p:cNvSpPr>
          <p:nvPr/>
        </p:nvSpPr>
        <p:spPr>
          <a:xfrm xmlns:a="http://schemas.openxmlformats.org/drawingml/2006/main">
            <a:off x="800100" y="15621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7F73"/>
                </a:solidFill>
                <a:latin typeface="Arial"/>
                <a:ea typeface="Arial"/>
                <a:cs typeface="Arial"/>
              </a:defRPr>
            </a:defPPr>
          </a:lstStyle>
          <a:p xmlns:a="http://schemas.openxmlformats.org/drawingml/2006/main">
            <a:pPr algn="l">
              <a:lnSpc>
                <a:spcPct val="108000"/>
              </a:lnSpc>
              <a:buNone/>
              <a:defRPr sz="1350" b="1">
                <a:solidFill>
                  <a:srgbClr val="007F73"/>
                </a:solidFill>
                <a:latin typeface="Arial"/>
                <a:ea typeface="Arial"/>
                <a:cs typeface="Arial"/>
              </a:defRPr>
            </a:pPr>
            <a:r>
              <a:rPr sz="1350" b="1">
                <a:solidFill>
                  <a:srgbClr val="007F73"/>
                </a:solidFill>
                <a:latin typeface="Arial"/>
                <a:ea typeface="Arial"/>
                <a:cs typeface="Arial"/>
              </a:rPr>
              <a:t>PROMPT TO ENTER</a:t>
            </a:r>
          </a:p>
        </p:txBody>
      </p:sp>
      <p:sp>
        <p:nvSpPr>
          <p:cNvPr id="4" name="review-prompt">
            <a:extLst xmlns:a="http://schemas.openxmlformats.org/drawingml/2006/main">
              <a:ext uri="{FF2B5EF4-FFF2-40B4-BE49-F238E27FC236}">
                <a16:creationId xmlns:a16="http://schemas.microsoft.com/office/drawing/2014/main" id="{05C4E58B-7825-4435-96EA-15A881DCA17B}"/>
              </a:ext>
            </a:extLst>
          </p:cNvPr>
          <p:cNvSpPr>
            <a:spLocks xmlns:a="http://schemas.openxmlformats.org/drawingml/2006/main" noGrp="1"/>
          </p:cNvSpPr>
          <p:nvPr/>
        </p:nvSpPr>
        <p:spPr>
          <a:xfrm xmlns:a="http://schemas.openxmlformats.org/drawingml/2006/main">
            <a:off x="800100" y="2000250"/>
            <a:ext cx="10382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623"/>
                </a:solidFill>
                <a:latin typeface="Arial"/>
                <a:ea typeface="Arial"/>
                <a:cs typeface="Arial"/>
              </a:defRPr>
            </a:defPPr>
          </a:lstStyle>
          <a:p xmlns:a="http://schemas.openxmlformats.org/drawingml/2006/main">
            <a:pPr algn="l">
              <a:lnSpc>
                <a:spcPct val="114000"/>
              </a:lnSpc>
              <a:buNone/>
              <a:defRPr sz="2100" b="1">
                <a:solidFill>
                  <a:srgbClr val="172623"/>
                </a:solidFill>
                <a:latin typeface="Arial"/>
                <a:ea typeface="Arial"/>
                <a:cs typeface="Arial"/>
              </a:defRPr>
            </a:pPr>
            <a:r>
              <a:rPr sz="2100" b="1">
                <a:solidFill>
                  <a:srgbClr val="172623"/>
                </a:solidFill>
                <a:latin typeface="Arial"/>
                <a:ea typeface="Arial"/>
                <a:cs typeface="Arial"/>
              </a:rPr>
              <a:t>Review recent work on retrieval-augmented generation for scientific question answering. Find and index papers, compare methods and findings, surface evidence-backed gaps, and report what is new to this project. Do not claim field-level novelty.</a:t>
            </a:r>
          </a:p>
        </p:txBody>
      </p:sp>
      <p:sp>
        <p:nvSpPr>
          <p:cNvPr id="5" name="review-chain">
            <a:extLst xmlns:a="http://schemas.openxmlformats.org/drawingml/2006/main">
              <a:ext uri="{FF2B5EF4-FFF2-40B4-BE49-F238E27FC236}">
                <a16:creationId xmlns:a16="http://schemas.microsoft.com/office/drawing/2014/main" id="{9D6ED916-645B-439D-B7DC-6BFE48262F6C}"/>
              </a:ext>
            </a:extLst>
          </p:cNvPr>
          <p:cNvSpPr>
            <a:spLocks xmlns:a="http://schemas.openxmlformats.org/drawingml/2006/main" noGrp="1"/>
          </p:cNvSpPr>
          <p:nvPr/>
        </p:nvSpPr>
        <p:spPr>
          <a:xfrm xmlns:a="http://schemas.openxmlformats.org/drawingml/2006/main">
            <a:off x="800100" y="4619625"/>
            <a:ext cx="1038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07F73"/>
                </a:solidFill>
                <a:latin typeface="Arial"/>
                <a:ea typeface="Arial"/>
                <a:cs typeface="Arial"/>
              </a:defRPr>
            </a:defPPr>
          </a:lstStyle>
          <a:p xmlns:a="http://schemas.openxmlformats.org/drawingml/2006/main">
            <a:pPr algn="l">
              <a:lnSpc>
                <a:spcPct val="108000"/>
              </a:lnSpc>
              <a:buNone/>
              <a:defRPr sz="1800" b="1">
                <a:solidFill>
                  <a:srgbClr val="007F73"/>
                </a:solidFill>
                <a:latin typeface="Arial"/>
                <a:ea typeface="Arial"/>
                <a:cs typeface="Arial"/>
              </a:defRPr>
            </a:pPr>
            <a:r>
              <a:rPr sz="1800" b="1">
                <a:solidFill>
                  <a:srgbClr val="007F73"/>
                </a:solidFill>
                <a:latin typeface="Arial"/>
                <a:ea typeface="Arial"/>
                <a:cs typeface="Arial"/>
              </a:rPr>
              <a:t>Search  →  Index  →  Retrieve  →  Compare  →  Check project coverage  →  Synthesize with citations</a:t>
            </a:r>
          </a:p>
        </p:txBody>
      </p:sp>
    </p:spTree>
    <p:extLst>
      <p:ext uri="{BB962C8B-B14F-4D97-AF65-F5344CB8AC3E}">
        <p14:creationId xmlns:p14="http://schemas.microsoft.com/office/powerpoint/2010/main" val="1919209692"/>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slide-10-title">
            <a:extLst xmlns:a="http://schemas.openxmlformats.org/drawingml/2006/main">
              <a:ext uri="{FF2B5EF4-FFF2-40B4-BE49-F238E27FC236}">
                <a16:creationId xmlns:a16="http://schemas.microsoft.com/office/drawing/2014/main" id="{233FEA9B-7690-44B3-8B89-7FD8E254FE34}"/>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Tasks and Agent Activity</a:t>
            </a:r>
          </a:p>
        </p:txBody>
      </p:sp>
      <p:sp>
        <p:nvSpPr>
          <p:cNvPr id="2" name="slide-10-footer">
            <a:extLst xmlns:a="http://schemas.openxmlformats.org/drawingml/2006/main">
              <a:ext uri="{FF2B5EF4-FFF2-40B4-BE49-F238E27FC236}">
                <a16:creationId xmlns:a16="http://schemas.microsoft.com/office/drawing/2014/main" id="{E1D25D7B-B225-4711-96C9-2BCE1A59C6E4}"/>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10 / 16</a:t>
            </a:r>
          </a:p>
        </p:txBody>
      </p:sp>
      <p:sp>
        <p:nvSpPr>
          <p:cNvPr id="3" name="task-definition-label">
            <a:extLst xmlns:a="http://schemas.openxmlformats.org/drawingml/2006/main">
              <a:ext uri="{FF2B5EF4-FFF2-40B4-BE49-F238E27FC236}">
                <a16:creationId xmlns:a16="http://schemas.microsoft.com/office/drawing/2014/main" id="{E829FD4A-4EB9-4F03-AAFF-A3474DBC6E6B}"/>
              </a:ext>
            </a:extLst>
          </p:cNvPr>
          <p:cNvSpPr>
            <a:spLocks xmlns:a="http://schemas.openxmlformats.org/drawingml/2006/main" noGrp="1"/>
          </p:cNvSpPr>
          <p:nvPr/>
        </p:nvSpPr>
        <p:spPr>
          <a:xfrm xmlns:a="http://schemas.openxmlformats.org/drawingml/2006/main">
            <a:off x="800100" y="16859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7F73"/>
                </a:solidFill>
                <a:latin typeface="Arial"/>
                <a:ea typeface="Arial"/>
                <a:cs typeface="Arial"/>
              </a:defRPr>
            </a:defPPr>
          </a:lstStyle>
          <a:p xmlns:a="http://schemas.openxmlformats.org/drawingml/2006/main">
            <a:pPr algn="l">
              <a:lnSpc>
                <a:spcPct val="108000"/>
              </a:lnSpc>
              <a:buNone/>
              <a:defRPr sz="1500" b="1">
                <a:solidFill>
                  <a:srgbClr val="007F73"/>
                </a:solidFill>
                <a:latin typeface="Arial"/>
                <a:ea typeface="Arial"/>
                <a:cs typeface="Arial"/>
              </a:defRPr>
            </a:pPr>
            <a:r>
              <a:rPr sz="1500" b="1">
                <a:solidFill>
                  <a:srgbClr val="007F73"/>
                </a:solidFill>
                <a:latin typeface="Arial"/>
                <a:ea typeface="Arial"/>
                <a:cs typeface="Arial"/>
              </a:rPr>
              <a:t>TASK = THE WHOLE RUN</a:t>
            </a:r>
          </a:p>
        </p:txBody>
      </p:sp>
      <p:sp>
        <p:nvSpPr>
          <p:cNvPr id="4" name="task-definition">
            <a:extLst xmlns:a="http://schemas.openxmlformats.org/drawingml/2006/main">
              <a:ext uri="{FF2B5EF4-FFF2-40B4-BE49-F238E27FC236}">
                <a16:creationId xmlns:a16="http://schemas.microsoft.com/office/drawing/2014/main" id="{F311627F-200C-4128-B82D-36E5F5A307A9}"/>
              </a:ext>
            </a:extLst>
          </p:cNvPr>
          <p:cNvSpPr>
            <a:spLocks xmlns:a="http://schemas.openxmlformats.org/drawingml/2006/main" noGrp="1"/>
          </p:cNvSpPr>
          <p:nvPr/>
        </p:nvSpPr>
        <p:spPr>
          <a:xfrm xmlns:a="http://schemas.openxmlformats.org/drawingml/2006/main">
            <a:off x="800100" y="2143125"/>
            <a:ext cx="4857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172623"/>
                </a:solidFill>
                <a:latin typeface="Arial"/>
                <a:ea typeface="Arial"/>
                <a:cs typeface="Arial"/>
              </a:defRPr>
            </a:defPPr>
          </a:lstStyle>
          <a:p xmlns:a="http://schemas.openxmlformats.org/drawingml/2006/main">
            <a:pPr algn="l">
              <a:lnSpc>
                <a:spcPct val="108000"/>
              </a:lnSpc>
              <a:buNone/>
              <a:defRPr sz="1800">
                <a:solidFill>
                  <a:srgbClr val="172623"/>
                </a:solidFill>
                <a:latin typeface="Arial"/>
                <a:ea typeface="Arial"/>
                <a:cs typeface="Arial"/>
              </a:defRPr>
            </a:pPr>
            <a:r>
              <a:rPr sz="1800">
                <a:solidFill>
                  <a:srgbClr val="172623"/>
                </a:solidFill>
                <a:latin typeface="Arial"/>
                <a:ea typeface="Arial"/>
                <a:cs typeface="Arial"/>
              </a:rPr>
              <a:t>One accepted request, such as a question, paper search, upload analysis, comparison, or evaluation run.</a:t>
            </a:r>
          </a:p>
          <a:p xmlns:a="http://schemas.openxmlformats.org/drawingml/2006/main">
            <a:r>
              <a:t/>
            </a:r>
          </a:p>
          <a:p xmlns:a="http://schemas.openxmlformats.org/drawingml/2006/main">
            <a:pPr algn="l">
              <a:lnSpc>
                <a:spcPct val="108000"/>
              </a:lnSpc>
              <a:buNone/>
              <a:defRPr sz="1800">
                <a:solidFill>
                  <a:srgbClr val="172623"/>
                </a:solidFill>
                <a:latin typeface="Arial"/>
                <a:ea typeface="Arial"/>
                <a:cs typeface="Arial"/>
              </a:defRPr>
            </a:pPr>
            <a:r>
              <a:rPr sz="1800">
                <a:solidFill>
                  <a:srgbClr val="172623"/>
                </a:solidFill>
                <a:latin typeface="Arial"/>
                <a:ea typeface="Arial"/>
                <a:cs typeface="Arial"/>
              </a:rPr>
              <a:t>The record tracks its project, flow, status, timestamps, result, and any error.</a:t>
            </a:r>
          </a:p>
        </p:txBody>
      </p:sp>
      <p:sp>
        <p:nvSpPr>
          <p:cNvPr id="5" name="event-definition-label">
            <a:extLst xmlns:a="http://schemas.openxmlformats.org/drawingml/2006/main">
              <a:ext uri="{FF2B5EF4-FFF2-40B4-BE49-F238E27FC236}">
                <a16:creationId xmlns:a16="http://schemas.microsoft.com/office/drawing/2014/main" id="{BFECB68B-E83E-49DE-9665-0C509F63CB2F}"/>
              </a:ext>
            </a:extLst>
          </p:cNvPr>
          <p:cNvSpPr>
            <a:spLocks xmlns:a="http://schemas.openxmlformats.org/drawingml/2006/main" noGrp="1"/>
          </p:cNvSpPr>
          <p:nvPr/>
        </p:nvSpPr>
        <p:spPr>
          <a:xfrm xmlns:a="http://schemas.openxmlformats.org/drawingml/2006/main">
            <a:off x="6477000" y="16859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007F73"/>
                </a:solidFill>
                <a:latin typeface="Arial"/>
                <a:ea typeface="Arial"/>
                <a:cs typeface="Arial"/>
              </a:defRPr>
            </a:defPPr>
          </a:lstStyle>
          <a:p xmlns:a="http://schemas.openxmlformats.org/drawingml/2006/main">
            <a:pPr algn="l">
              <a:lnSpc>
                <a:spcPct val="108000"/>
              </a:lnSpc>
              <a:buNone/>
              <a:defRPr sz="1500" b="1">
                <a:solidFill>
                  <a:srgbClr val="007F73"/>
                </a:solidFill>
                <a:latin typeface="Arial"/>
                <a:ea typeface="Arial"/>
                <a:cs typeface="Arial"/>
              </a:defRPr>
            </a:pPr>
            <a:r>
              <a:rPr sz="1500" b="1">
                <a:solidFill>
                  <a:srgbClr val="007F73"/>
                </a:solidFill>
                <a:latin typeface="Arial"/>
                <a:ea typeface="Arial"/>
                <a:cs typeface="Arial"/>
              </a:rPr>
              <a:t>AGENT ACTIVITY = THE STEPS</a:t>
            </a:r>
          </a:p>
        </p:txBody>
      </p:sp>
      <p:sp>
        <p:nvSpPr>
          <p:cNvPr id="6" name="event-definition">
            <a:extLst xmlns:a="http://schemas.openxmlformats.org/drawingml/2006/main">
              <a:ext uri="{FF2B5EF4-FFF2-40B4-BE49-F238E27FC236}">
                <a16:creationId xmlns:a16="http://schemas.microsoft.com/office/drawing/2014/main" id="{B4373E80-CDBE-4589-921C-80A5DD658FC8}"/>
              </a:ext>
            </a:extLst>
          </p:cNvPr>
          <p:cNvSpPr>
            <a:spLocks xmlns:a="http://schemas.openxmlformats.org/drawingml/2006/main" noGrp="1"/>
          </p:cNvSpPr>
          <p:nvPr/>
        </p:nvSpPr>
        <p:spPr>
          <a:xfrm xmlns:a="http://schemas.openxmlformats.org/drawingml/2006/main">
            <a:off x="6477000" y="2143125"/>
            <a:ext cx="4857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172623"/>
                </a:solidFill>
                <a:latin typeface="Arial"/>
                <a:ea typeface="Arial"/>
                <a:cs typeface="Arial"/>
              </a:defRPr>
            </a:defPPr>
          </a:lstStyle>
          <a:p xmlns:a="http://schemas.openxmlformats.org/drawingml/2006/main">
            <a:pPr algn="l">
              <a:lnSpc>
                <a:spcPct val="108000"/>
              </a:lnSpc>
              <a:buNone/>
              <a:defRPr sz="1800">
                <a:solidFill>
                  <a:srgbClr val="172623"/>
                </a:solidFill>
                <a:latin typeface="Arial"/>
                <a:ea typeface="Arial"/>
                <a:cs typeface="Arial"/>
              </a:defRPr>
            </a:pPr>
            <a:r>
              <a:rPr sz="1800">
                <a:solidFill>
                  <a:srgbClr val="172623"/>
                </a:solidFill>
                <a:latin typeface="Arial"/>
                <a:ea typeface="Arial"/>
                <a:cs typeface="Arial"/>
              </a:rPr>
              <a:t>Timestamped events show which agent ran, what stage it reached, and its message or failure.</a:t>
            </a:r>
          </a:p>
          <a:p xmlns:a="http://schemas.openxmlformats.org/drawingml/2006/main">
            <a:r>
              <a:t/>
            </a:r>
          </a:p>
          <a:p xmlns:a="http://schemas.openxmlformats.org/drawingml/2006/main">
            <a:pPr algn="l">
              <a:lnSpc>
                <a:spcPct val="108000"/>
              </a:lnSpc>
              <a:buNone/>
              <a:defRPr sz="1800">
                <a:solidFill>
                  <a:srgbClr val="172623"/>
                </a:solidFill>
                <a:latin typeface="Arial"/>
                <a:ea typeface="Arial"/>
                <a:cs typeface="Arial"/>
              </a:defRPr>
            </a:pPr>
            <a:r>
              <a:rPr sz="1800">
                <a:solidFill>
                  <a:srgbClr val="172623"/>
                </a:solidFill>
                <a:latin typeface="Arial"/>
                <a:ea typeface="Arial"/>
                <a:cs typeface="Arial"/>
              </a:rPr>
              <a:t>Use the trace to see why a run completed, slowed down, or failed.</a:t>
            </a:r>
          </a:p>
        </p:txBody>
      </p:sp>
      <p:sp>
        <p:nvSpPr>
          <p:cNvPr id="7" name="task-summary">
            <a:extLst xmlns:a="http://schemas.openxmlformats.org/drawingml/2006/main">
              <a:ext uri="{FF2B5EF4-FFF2-40B4-BE49-F238E27FC236}">
                <a16:creationId xmlns:a16="http://schemas.microsoft.com/office/drawing/2014/main" id="{1C9C0860-F31B-45CA-BB72-5778624CABB1}"/>
              </a:ext>
            </a:extLst>
          </p:cNvPr>
          <p:cNvSpPr>
            <a:spLocks xmlns:a="http://schemas.openxmlformats.org/drawingml/2006/main" noGrp="1"/>
          </p:cNvSpPr>
          <p:nvPr/>
        </p:nvSpPr>
        <p:spPr>
          <a:xfrm xmlns:a="http://schemas.openxmlformats.org/drawingml/2006/main">
            <a:off x="1524000" y="5143500"/>
            <a:ext cx="9144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1">
                <a:solidFill>
                  <a:srgbClr val="354741"/>
                </a:solidFill>
                <a:latin typeface="Arial"/>
                <a:ea typeface="Arial"/>
                <a:cs typeface="Arial"/>
              </a:defRPr>
            </a:defPPr>
          </a:lstStyle>
          <a:p xmlns:a="http://schemas.openxmlformats.org/drawingml/2006/main">
            <a:pPr algn="ctr">
              <a:lnSpc>
                <a:spcPct val="108000"/>
              </a:lnSpc>
              <a:buNone/>
              <a:defRPr sz="1725" b="1">
                <a:solidFill>
                  <a:srgbClr val="354741"/>
                </a:solidFill>
                <a:latin typeface="Arial"/>
                <a:ea typeface="Arial"/>
                <a:cs typeface="Arial"/>
              </a:defRPr>
            </a:pPr>
            <a:r>
              <a:rPr sz="1725" b="1">
                <a:solidFill>
                  <a:srgbClr val="354741"/>
                </a:solidFill>
                <a:latin typeface="Arial"/>
                <a:ea typeface="Arial"/>
                <a:cs typeface="Arial"/>
              </a:rPr>
              <a:t>One task can contain many agent events. The task answers “what happened to my request?”; the trace answers “what did each step do?”</a:t>
            </a:r>
          </a:p>
        </p:txBody>
      </p:sp>
    </p:spTree>
    <p:extLst>
      <p:ext uri="{BB962C8B-B14F-4D97-AF65-F5344CB8AC3E}">
        <p14:creationId xmlns:p14="http://schemas.microsoft.com/office/powerpoint/2010/main" val="498744183"/>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slide-11-title">
            <a:extLst xmlns:a="http://schemas.openxmlformats.org/drawingml/2006/main">
              <a:ext uri="{FF2B5EF4-FFF2-40B4-BE49-F238E27FC236}">
                <a16:creationId xmlns:a16="http://schemas.microsoft.com/office/drawing/2014/main" id="{3DC793F4-B5D0-499B-AC90-F8D236AC1876}"/>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Knowledge Graph</a:t>
            </a:r>
          </a:p>
        </p:txBody>
      </p:sp>
      <p:sp>
        <p:nvSpPr>
          <p:cNvPr id="2" name="slide-11-footer">
            <a:extLst xmlns:a="http://schemas.openxmlformats.org/drawingml/2006/main">
              <a:ext uri="{FF2B5EF4-FFF2-40B4-BE49-F238E27FC236}">
                <a16:creationId xmlns:a16="http://schemas.microsoft.com/office/drawing/2014/main" id="{F56A2F7D-BFDD-439B-9BAD-65CE76F7430B}"/>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11 / 16</a:t>
            </a:r>
          </a:p>
        </p:txBody>
      </p:sp>
      <p:sp>
        <p:nvSpPr>
          <p:cNvPr id="3" name="graph-role">
            <a:extLst xmlns:a="http://schemas.openxmlformats.org/drawingml/2006/main">
              <a:ext uri="{FF2B5EF4-FFF2-40B4-BE49-F238E27FC236}">
                <a16:creationId xmlns:a16="http://schemas.microsoft.com/office/drawing/2014/main" id="{E3FCB1D3-14FA-4110-B179-A6B355A6973F}"/>
              </a:ext>
            </a:extLst>
          </p:cNvPr>
          <p:cNvSpPr>
            <a:spLocks xmlns:a="http://schemas.openxmlformats.org/drawingml/2006/main" noGrp="1"/>
          </p:cNvSpPr>
          <p:nvPr/>
        </p:nvSpPr>
        <p:spPr>
          <a:xfrm xmlns:a="http://schemas.openxmlformats.org/drawingml/2006/main">
            <a:off x="800100" y="160020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72623"/>
                </a:solidFill>
                <a:latin typeface="Arial"/>
                <a:ea typeface="Arial"/>
                <a:cs typeface="Arial"/>
              </a:defRPr>
            </a:defPPr>
          </a:lstStyle>
          <a:p xmlns:a="http://schemas.openxmlformats.org/drawingml/2006/main">
            <a:pPr algn="l">
              <a:lnSpc>
                <a:spcPct val="108000"/>
              </a:lnSpc>
              <a:buNone/>
              <a:defRPr sz="2550" b="1">
                <a:solidFill>
                  <a:srgbClr val="172623"/>
                </a:solidFill>
                <a:latin typeface="Arial"/>
                <a:ea typeface="Arial"/>
                <a:cs typeface="Arial"/>
              </a:defRPr>
            </a:pPr>
            <a:r>
              <a:rPr sz="2550" b="1">
                <a:solidFill>
                  <a:srgbClr val="172623"/>
                </a:solidFill>
                <a:latin typeface="Arial"/>
                <a:ea typeface="Arial"/>
                <a:cs typeface="Arial"/>
              </a:rPr>
              <a:t>A connected map of what this project's sources discuss.</a:t>
            </a:r>
          </a:p>
        </p:txBody>
      </p:sp>
      <p:sp>
        <p:nvSpPr>
          <p:cNvPr id="4" name="graph-example">
            <a:extLst xmlns:a="http://schemas.openxmlformats.org/drawingml/2006/main">
              <a:ext uri="{FF2B5EF4-FFF2-40B4-BE49-F238E27FC236}">
                <a16:creationId xmlns:a16="http://schemas.microsoft.com/office/drawing/2014/main" id="{6B676DEA-DAC3-46AB-8168-44E5C3503CD7}"/>
              </a:ext>
            </a:extLst>
          </p:cNvPr>
          <p:cNvSpPr>
            <a:spLocks xmlns:a="http://schemas.openxmlformats.org/drawingml/2006/main" noGrp="1"/>
          </p:cNvSpPr>
          <p:nvPr/>
        </p:nvSpPr>
        <p:spPr>
          <a:xfrm xmlns:a="http://schemas.openxmlformats.org/drawingml/2006/main">
            <a:off x="1143000" y="2809875"/>
            <a:ext cx="666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7F73"/>
                </a:solidFill>
                <a:latin typeface="Arial"/>
                <a:ea typeface="Arial"/>
                <a:cs typeface="Arial"/>
              </a:defRPr>
            </a:defPPr>
          </a:lstStyle>
          <a:p xmlns:a="http://schemas.openxmlformats.org/drawingml/2006/main">
            <a:pPr algn="l">
              <a:lnSpc>
                <a:spcPct val="125000"/>
              </a:lnSpc>
              <a:buNone/>
              <a:defRPr sz="2175" b="1">
                <a:solidFill>
                  <a:srgbClr val="007F73"/>
                </a:solidFill>
                <a:latin typeface="Arial"/>
                <a:ea typeface="Arial"/>
                <a:cs typeface="Arial"/>
              </a:defRPr>
            </a:pPr>
            <a:r>
              <a:rPr sz="2175" b="1">
                <a:solidFill>
                  <a:srgbClr val="007F73"/>
                </a:solidFill>
                <a:latin typeface="Arial"/>
                <a:ea typeface="Arial"/>
                <a:cs typeface="Arial"/>
              </a:rPr>
              <a:t>Paper  ── AUTHORED_BY ──  Author</a:t>
            </a:r>
          </a:p>
          <a:p xmlns:a="http://schemas.openxmlformats.org/drawingml/2006/main">
            <a:pPr algn="l">
              <a:lnSpc>
                <a:spcPct val="125000"/>
              </a:lnSpc>
              <a:buNone/>
              <a:defRPr sz="2175" b="1">
                <a:solidFill>
                  <a:srgbClr val="007F73"/>
                </a:solidFill>
                <a:latin typeface="Arial"/>
                <a:ea typeface="Arial"/>
                <a:cs typeface="Arial"/>
              </a:defRPr>
            </a:pPr>
            <a:r>
              <a:rPr sz="2175" b="1">
                <a:solidFill>
                  <a:srgbClr val="007F73"/>
                </a:solidFill>
                <a:latin typeface="Arial"/>
                <a:ea typeface="Arial"/>
                <a:cs typeface="Arial"/>
              </a:rPr>
              <a:t>  │</a:t>
            </a:r>
          </a:p>
          <a:p xmlns:a="http://schemas.openxmlformats.org/drawingml/2006/main">
            <a:pPr algn="l">
              <a:lnSpc>
                <a:spcPct val="125000"/>
              </a:lnSpc>
              <a:buNone/>
              <a:defRPr sz="2175" b="1">
                <a:solidFill>
                  <a:srgbClr val="007F73"/>
                </a:solidFill>
                <a:latin typeface="Arial"/>
                <a:ea typeface="Arial"/>
                <a:cs typeface="Arial"/>
              </a:defRPr>
            </a:pPr>
            <a:r>
              <a:rPr sz="2175" b="1">
                <a:solidFill>
                  <a:srgbClr val="007F73"/>
                </a:solidFill>
                <a:latin typeface="Arial"/>
                <a:ea typeface="Arial"/>
                <a:cs typeface="Arial"/>
              </a:rPr>
              <a:t>  └── USES / EXTENDS / EVALUATED_ON ──  Concept or method</a:t>
            </a:r>
          </a:p>
        </p:txBody>
      </p:sp>
      <p:sp>
        <p:nvSpPr>
          <p:cNvPr id="5" name="graph-use">
            <a:extLst xmlns:a="http://schemas.openxmlformats.org/drawingml/2006/main">
              <a:ext uri="{FF2B5EF4-FFF2-40B4-BE49-F238E27FC236}">
                <a16:creationId xmlns:a16="http://schemas.microsoft.com/office/drawing/2014/main" id="{3ABDAFA7-D630-4804-8BDF-815F9E4CF2D2}"/>
              </a:ext>
            </a:extLst>
          </p:cNvPr>
          <p:cNvSpPr>
            <a:spLocks xmlns:a="http://schemas.openxmlformats.org/drawingml/2006/main" noGrp="1"/>
          </p:cNvSpPr>
          <p:nvPr/>
        </p:nvSpPr>
        <p:spPr>
          <a:xfrm xmlns:a="http://schemas.openxmlformats.org/drawingml/2006/main">
            <a:off x="8096250" y="2609850"/>
            <a:ext cx="3143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a:solidFill>
                  <a:srgbClr val="354741"/>
                </a:solidFill>
                <a:latin typeface="Arial"/>
                <a:ea typeface="Arial"/>
                <a:cs typeface="Arial"/>
              </a:defRPr>
            </a:defPPr>
          </a:lstStyle>
          <a:p xmlns:a="http://schemas.openxmlformats.org/drawingml/2006/main">
            <a:pPr algn="l">
              <a:lnSpc>
                <a:spcPct val="108000"/>
              </a:lnSpc>
              <a:buNone/>
              <a:defRPr sz="1725">
                <a:solidFill>
                  <a:srgbClr val="354741"/>
                </a:solidFill>
                <a:latin typeface="Arial"/>
                <a:ea typeface="Arial"/>
                <a:cs typeface="Arial"/>
              </a:defRPr>
            </a:pPr>
            <a:r>
              <a:rPr sz="1725">
                <a:solidFill>
                  <a:srgbClr val="354741"/>
                </a:solidFill>
                <a:latin typeface="Arial"/>
                <a:ea typeface="Arial"/>
                <a:cs typeface="Arial"/>
              </a:rPr>
              <a:t>WHY IT HELPS</a:t>
            </a:r>
          </a:p>
          <a:p xmlns:a="http://schemas.openxmlformats.org/drawingml/2006/main">
            <a:r>
              <a:t/>
            </a:r>
          </a:p>
          <a:p xmlns:a="http://schemas.openxmlformats.org/drawingml/2006/main">
            <a:pPr algn="l">
              <a:lnSpc>
                <a:spcPct val="108000"/>
              </a:lnSpc>
              <a:buNone/>
              <a:defRPr sz="1725">
                <a:solidFill>
                  <a:srgbClr val="354741"/>
                </a:solidFill>
                <a:latin typeface="Arial"/>
                <a:ea typeface="Arial"/>
                <a:cs typeface="Arial"/>
              </a:defRPr>
            </a:pPr>
            <a:r>
              <a:rPr sz="1725">
                <a:solidFill>
                  <a:srgbClr val="354741"/>
                </a:solidFill>
                <a:latin typeface="Arial"/>
                <a:ea typeface="Arial"/>
                <a:cs typeface="Arial"/>
              </a:rPr>
              <a:t>Traversal can surface related concepts and passages that a vector match alone may miss. Those passages are fused into retrieval; citations still point to source text.</a:t>
            </a:r>
          </a:p>
        </p:txBody>
      </p:sp>
      <p:sp>
        <p:nvSpPr>
          <p:cNvPr id="6" name="graph-limit">
            <a:extLst xmlns:a="http://schemas.openxmlformats.org/drawingml/2006/main">
              <a:ext uri="{FF2B5EF4-FFF2-40B4-BE49-F238E27FC236}">
                <a16:creationId xmlns:a16="http://schemas.microsoft.com/office/drawing/2014/main" id="{843EB5A0-EFD6-4BE4-B48E-98447BEB7D67}"/>
              </a:ext>
            </a:extLst>
          </p:cNvPr>
          <p:cNvSpPr>
            <a:spLocks xmlns:a="http://schemas.openxmlformats.org/drawingml/2006/main" noGrp="1"/>
          </p:cNvSpPr>
          <p:nvPr/>
        </p:nvSpPr>
        <p:spPr>
          <a:xfrm xmlns:a="http://schemas.openxmlformats.org/drawingml/2006/main">
            <a:off x="1143000" y="53340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i="1">
                <a:solidFill>
                  <a:srgbClr val="65756F"/>
                </a:solidFill>
                <a:latin typeface="Arial"/>
                <a:ea typeface="Arial"/>
                <a:cs typeface="Arial"/>
              </a:defRPr>
            </a:defPPr>
          </a:lstStyle>
          <a:p xmlns:a="http://schemas.openxmlformats.org/drawingml/2006/main">
            <a:pPr algn="l">
              <a:lnSpc>
                <a:spcPct val="108000"/>
              </a:lnSpc>
              <a:buNone/>
              <a:defRPr sz="1575" i="1">
                <a:solidFill>
                  <a:srgbClr val="65756F"/>
                </a:solidFill>
                <a:latin typeface="Arial"/>
                <a:ea typeface="Arial"/>
                <a:cs typeface="Arial"/>
              </a:defRPr>
            </a:pPr>
            <a:r>
              <a:rPr sz="1575" i="1">
                <a:solidFill>
                  <a:srgbClr val="65756F"/>
                </a:solidFill>
                <a:latin typeface="Arial"/>
                <a:ea typeface="Arial"/>
                <a:cs typeface="Arial"/>
              </a:rPr>
              <a:t>Graph coverage signals are scoped to the indexed project corpus; they are not field-wide conclusions.</a:t>
            </a:r>
          </a:p>
        </p:txBody>
      </p:sp>
    </p:spTree>
    <p:extLst>
      <p:ext uri="{BB962C8B-B14F-4D97-AF65-F5344CB8AC3E}">
        <p14:creationId xmlns:p14="http://schemas.microsoft.com/office/powerpoint/2010/main" val="1015497638"/>
      </p:ext>
    </p:extLst>
  </p:cSld>
</p:sld>
</file>

<file path=ppt/slides/slide1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slide-12-title">
            <a:extLst xmlns:a="http://schemas.openxmlformats.org/drawingml/2006/main">
              <a:ext uri="{FF2B5EF4-FFF2-40B4-BE49-F238E27FC236}">
                <a16:creationId xmlns:a16="http://schemas.microsoft.com/office/drawing/2014/main" id="{69D30691-D115-4404-ABA3-44E07D08D854}"/>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Evaluation: what it measures</a:t>
            </a:r>
          </a:p>
        </p:txBody>
      </p:sp>
      <p:sp>
        <p:nvSpPr>
          <p:cNvPr id="2" name="slide-12-footer">
            <a:extLst xmlns:a="http://schemas.openxmlformats.org/drawingml/2006/main">
              <a:ext uri="{FF2B5EF4-FFF2-40B4-BE49-F238E27FC236}">
                <a16:creationId xmlns:a16="http://schemas.microsoft.com/office/drawing/2014/main" id="{0D0B080E-9C14-4F63-8872-FA0A43E6CC52}"/>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12 / 16</a:t>
            </a:r>
          </a:p>
        </p:txBody>
      </p:sp>
      <p:sp>
        <p:nvSpPr>
          <p:cNvPr id="3" name="eval-question">
            <a:extLst xmlns:a="http://schemas.openxmlformats.org/drawingml/2006/main">
              <a:ext uri="{FF2B5EF4-FFF2-40B4-BE49-F238E27FC236}">
                <a16:creationId xmlns:a16="http://schemas.microsoft.com/office/drawing/2014/main" id="{7B93DEFB-D73B-4C0C-BF8C-DA1556C45239}"/>
              </a:ext>
            </a:extLst>
          </p:cNvPr>
          <p:cNvSpPr>
            <a:spLocks xmlns:a="http://schemas.openxmlformats.org/drawingml/2006/main" noGrp="1"/>
          </p:cNvSpPr>
          <p:nvPr/>
        </p:nvSpPr>
        <p:spPr>
          <a:xfrm xmlns:a="http://schemas.openxmlformats.org/drawingml/2006/main">
            <a:off x="800100" y="1428750"/>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623"/>
                </a:solidFill>
                <a:latin typeface="Arial"/>
                <a:ea typeface="Arial"/>
                <a:cs typeface="Arial"/>
              </a:defRPr>
            </a:defPPr>
          </a:lstStyle>
          <a:p xmlns:a="http://schemas.openxmlformats.org/drawingml/2006/main">
            <a:pPr algn="l">
              <a:lnSpc>
                <a:spcPct val="108000"/>
              </a:lnSpc>
              <a:buNone/>
              <a:defRPr sz="2325" b="1">
                <a:solidFill>
                  <a:srgbClr val="172623"/>
                </a:solidFill>
                <a:latin typeface="Arial"/>
                <a:ea typeface="Arial"/>
                <a:cs typeface="Arial"/>
              </a:defRPr>
            </a:pPr>
            <a:r>
              <a:rPr sz="2325" b="1">
                <a:solidFill>
                  <a:srgbClr val="172623"/>
                </a:solidFill>
                <a:latin typeface="Arial"/>
                <a:ea typeface="Arial"/>
                <a:cs typeface="Arial"/>
              </a:rPr>
              <a:t>Is the retriever finding the evidence the project's questions need?</a:t>
            </a:r>
          </a:p>
        </p:txBody>
      </p:sp>
      <p:sp>
        <p:nvSpPr>
          <p:cNvPr id="4" name="metric-1">
            <a:extLst xmlns:a="http://schemas.openxmlformats.org/drawingml/2006/main">
              <a:ext uri="{FF2B5EF4-FFF2-40B4-BE49-F238E27FC236}">
                <a16:creationId xmlns:a16="http://schemas.microsoft.com/office/drawing/2014/main" id="{A960F41E-AD7F-4D4F-BAD6-947DB4B7C985}"/>
              </a:ext>
            </a:extLst>
          </p:cNvPr>
          <p:cNvSpPr>
            <a:spLocks xmlns:a="http://schemas.openxmlformats.org/drawingml/2006/main" noGrp="1"/>
          </p:cNvSpPr>
          <p:nvPr/>
        </p:nvSpPr>
        <p:spPr>
          <a:xfrm xmlns:a="http://schemas.openxmlformats.org/drawingml/2006/main">
            <a:off x="800100" y="2628900"/>
            <a:ext cx="4762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354741"/>
                </a:solidFill>
                <a:latin typeface="Arial"/>
                <a:ea typeface="Arial"/>
                <a:cs typeface="Arial"/>
              </a:defRPr>
            </a:defPPr>
          </a:lstStyle>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Recall@5</a:t>
            </a:r>
          </a:p>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Share of relevant corpus passages found in the top five.</a:t>
            </a:r>
          </a:p>
        </p:txBody>
      </p:sp>
      <p:sp>
        <p:nvSpPr>
          <p:cNvPr id="5" name="metric-2">
            <a:extLst xmlns:a="http://schemas.openxmlformats.org/drawingml/2006/main">
              <a:ext uri="{FF2B5EF4-FFF2-40B4-BE49-F238E27FC236}">
                <a16:creationId xmlns:a16="http://schemas.microsoft.com/office/drawing/2014/main" id="{6FF0322D-0C27-44F1-A479-B42694C6C188}"/>
              </a:ext>
            </a:extLst>
          </p:cNvPr>
          <p:cNvSpPr>
            <a:spLocks xmlns:a="http://schemas.openxmlformats.org/drawingml/2006/main" noGrp="1"/>
          </p:cNvSpPr>
          <p:nvPr/>
        </p:nvSpPr>
        <p:spPr>
          <a:xfrm xmlns:a="http://schemas.openxmlformats.org/drawingml/2006/main">
            <a:off x="6334125" y="2628900"/>
            <a:ext cx="4762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354741"/>
                </a:solidFill>
                <a:latin typeface="Arial"/>
                <a:ea typeface="Arial"/>
                <a:cs typeface="Arial"/>
              </a:defRPr>
            </a:defPPr>
          </a:lstStyle>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Precision@5</a:t>
            </a:r>
          </a:p>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Relevant results among the five returned passages.</a:t>
            </a:r>
          </a:p>
        </p:txBody>
      </p:sp>
      <p:sp>
        <p:nvSpPr>
          <p:cNvPr id="6" name="metric-3">
            <a:extLst xmlns:a="http://schemas.openxmlformats.org/drawingml/2006/main">
              <a:ext uri="{FF2B5EF4-FFF2-40B4-BE49-F238E27FC236}">
                <a16:creationId xmlns:a16="http://schemas.microsoft.com/office/drawing/2014/main" id="{2B224043-983F-480A-B91B-75B383A8D71C}"/>
              </a:ext>
            </a:extLst>
          </p:cNvPr>
          <p:cNvSpPr>
            <a:spLocks xmlns:a="http://schemas.openxmlformats.org/drawingml/2006/main" noGrp="1"/>
          </p:cNvSpPr>
          <p:nvPr/>
        </p:nvSpPr>
        <p:spPr>
          <a:xfrm xmlns:a="http://schemas.openxmlformats.org/drawingml/2006/main">
            <a:off x="800100" y="4143375"/>
            <a:ext cx="4762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354741"/>
                </a:solidFill>
                <a:latin typeface="Arial"/>
                <a:ea typeface="Arial"/>
                <a:cs typeface="Arial"/>
              </a:defRPr>
            </a:defPPr>
          </a:lstStyle>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MRR</a:t>
            </a:r>
          </a:p>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How high the first relevant passage ranks, averaged over cases.</a:t>
            </a:r>
          </a:p>
        </p:txBody>
      </p:sp>
      <p:sp>
        <p:nvSpPr>
          <p:cNvPr id="7" name="metric-4">
            <a:extLst xmlns:a="http://schemas.openxmlformats.org/drawingml/2006/main">
              <a:ext uri="{FF2B5EF4-FFF2-40B4-BE49-F238E27FC236}">
                <a16:creationId xmlns:a16="http://schemas.microsoft.com/office/drawing/2014/main" id="{2F0EF236-C170-45EA-B18F-8CC0A4527C9B}"/>
              </a:ext>
            </a:extLst>
          </p:cNvPr>
          <p:cNvSpPr>
            <a:spLocks xmlns:a="http://schemas.openxmlformats.org/drawingml/2006/main" noGrp="1"/>
          </p:cNvSpPr>
          <p:nvPr/>
        </p:nvSpPr>
        <p:spPr>
          <a:xfrm xmlns:a="http://schemas.openxmlformats.org/drawingml/2006/main">
            <a:off x="6334125" y="4143375"/>
            <a:ext cx="4762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a:solidFill>
                  <a:srgbClr val="354741"/>
                </a:solidFill>
                <a:latin typeface="Arial"/>
                <a:ea typeface="Arial"/>
                <a:cs typeface="Arial"/>
              </a:defRPr>
            </a:defPPr>
          </a:lstStyle>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nDCG@5</a:t>
            </a:r>
          </a:p>
          <a:p xmlns:a="http://schemas.openxmlformats.org/drawingml/2006/main">
            <a:pPr algn="l">
              <a:lnSpc>
                <a:spcPct val="108000"/>
              </a:lnSpc>
              <a:buNone/>
              <a:defRPr sz="1800">
                <a:solidFill>
                  <a:srgbClr val="354741"/>
                </a:solidFill>
                <a:latin typeface="Arial"/>
                <a:ea typeface="Arial"/>
                <a:cs typeface="Arial"/>
              </a:defRPr>
            </a:pPr>
            <a:r>
              <a:rPr sz="1800">
                <a:solidFill>
                  <a:srgbClr val="354741"/>
                </a:solidFill>
                <a:latin typeface="Arial"/>
                <a:ea typeface="Arial"/>
                <a:cs typeface="Arial"/>
              </a:rPr>
              <a:t>Ranking quality with extra weight on relevant results near the top.</a:t>
            </a:r>
          </a:p>
        </p:txBody>
      </p:sp>
      <p:sp>
        <p:nvSpPr>
          <p:cNvPr id="8" name="eval-limit">
            <a:extLst xmlns:a="http://schemas.openxmlformats.org/drawingml/2006/main">
              <a:ext uri="{FF2B5EF4-FFF2-40B4-BE49-F238E27FC236}">
                <a16:creationId xmlns:a16="http://schemas.microsoft.com/office/drawing/2014/main" id="{A84B9D8E-20FC-4412-9354-89436937AFC1}"/>
              </a:ext>
            </a:extLst>
          </p:cNvPr>
          <p:cNvSpPr>
            <a:spLocks xmlns:a="http://schemas.openxmlformats.org/drawingml/2006/main" noGrp="1"/>
          </p:cNvSpPr>
          <p:nvPr/>
        </p:nvSpPr>
        <p:spPr>
          <a:xfrm xmlns:a="http://schemas.openxmlformats.org/drawingml/2006/main">
            <a:off x="800100" y="569595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C65D36"/>
                </a:solidFill>
                <a:latin typeface="Arial"/>
                <a:ea typeface="Arial"/>
                <a:cs typeface="Arial"/>
              </a:defRPr>
            </a:defPPr>
          </a:lstStyle>
          <a:p xmlns:a="http://schemas.openxmlformats.org/drawingml/2006/main">
            <a:pPr algn="l">
              <a:lnSpc>
                <a:spcPct val="108000"/>
              </a:lnSpc>
              <a:buNone/>
              <a:defRPr sz="1575" b="1">
                <a:solidFill>
                  <a:srgbClr val="C65D36"/>
                </a:solidFill>
                <a:latin typeface="Arial"/>
                <a:ea typeface="Arial"/>
                <a:cs typeface="Arial"/>
              </a:defRPr>
            </a:pPr>
            <a:r>
              <a:rPr sz="1575" b="1">
                <a:solidFill>
                  <a:srgbClr val="C65D36"/>
                </a:solidFill>
                <a:latin typeface="Arial"/>
                <a:ea typeface="Arial"/>
                <a:cs typeface="Arial"/>
              </a:rPr>
              <a:t>These are retrieval metrics, not a model-quality grade.</a:t>
            </a:r>
          </a:p>
        </p:txBody>
      </p:sp>
    </p:spTree>
    <p:extLst>
      <p:ext uri="{BB962C8B-B14F-4D97-AF65-F5344CB8AC3E}">
        <p14:creationId xmlns:p14="http://schemas.microsoft.com/office/powerpoint/2010/main" val="1088006851"/>
      </p:ext>
    </p:extLst>
  </p:cSld>
</p:sld>
</file>

<file path=ppt/slides/slide1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slide-13-title">
            <a:extLst xmlns:a="http://schemas.openxmlformats.org/drawingml/2006/main">
              <a:ext uri="{FF2B5EF4-FFF2-40B4-BE49-F238E27FC236}">
                <a16:creationId xmlns:a16="http://schemas.microsoft.com/office/drawing/2014/main" id="{AA2F37EB-8019-4641-A615-46B0AFA9091C}"/>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Evaluation: run and interpret it</a:t>
            </a:r>
          </a:p>
        </p:txBody>
      </p:sp>
      <p:sp>
        <p:nvSpPr>
          <p:cNvPr id="2" name="slide-13-footer">
            <a:extLst xmlns:a="http://schemas.openxmlformats.org/drawingml/2006/main">
              <a:ext uri="{FF2B5EF4-FFF2-40B4-BE49-F238E27FC236}">
                <a16:creationId xmlns:a16="http://schemas.microsoft.com/office/drawing/2014/main" id="{961C2876-C1A5-4586-8A28-1B4ADA955A8A}"/>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13 / 16</a:t>
            </a:r>
          </a:p>
        </p:txBody>
      </p:sp>
      <p:sp>
        <p:nvSpPr>
          <p:cNvPr id="3" name="eval-steps">
            <a:extLst xmlns:a="http://schemas.openxmlformats.org/drawingml/2006/main">
              <a:ext uri="{FF2B5EF4-FFF2-40B4-BE49-F238E27FC236}">
                <a16:creationId xmlns:a16="http://schemas.microsoft.com/office/drawing/2014/main" id="{39207A5F-4E5C-4F66-BFD5-D79044DD762F}"/>
              </a:ext>
            </a:extLst>
          </p:cNvPr>
          <p:cNvSpPr>
            <a:spLocks xmlns:a="http://schemas.openxmlformats.org/drawingml/2006/main" noGrp="1"/>
          </p:cNvSpPr>
          <p:nvPr/>
        </p:nvSpPr>
        <p:spPr>
          <a:xfrm xmlns:a="http://schemas.openxmlformats.org/drawingml/2006/main">
            <a:off x="857250" y="1619250"/>
            <a:ext cx="10096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a:solidFill>
                  <a:srgbClr val="354741"/>
                </a:solidFill>
                <a:latin typeface="Arial"/>
                <a:ea typeface="Arial"/>
                <a:cs typeface="Arial"/>
              </a:defRPr>
            </a:defPPr>
          </a:lstStyle>
          <a:p xmlns:a="http://schemas.openxmlformats.org/drawingml/2006/main">
            <a:pPr marL="254000" indent="-127000" algn="l">
              <a:lnSpc>
                <a:spcPct val="108000"/>
              </a:lnSpc>
              <a:spcAft>
                <a:spcPts val="1000"/>
              </a:spcAft>
              <a:buNone/>
              <a:defRPr sz="1875">
                <a:solidFill>
                  <a:srgbClr val="354741"/>
                </a:solidFill>
                <a:latin typeface="Arial"/>
                <a:ea typeface="Arial"/>
                <a:cs typeface="Arial"/>
              </a:defRPr>
            </a:pPr>
            <a:r>
              <a:rPr sz="1875">
                <a:solidFill>
                  <a:srgbClr val="354741"/>
                </a:solidFill>
                <a:latin typeface="Arial"/>
                <a:ea typeface="Arial"/>
                <a:cs typeface="Arial"/>
              </a:rPr>
              <a:t>Open Evaluation, choose the project, and run the ten-case golden set.</a:t>
            </a:r>
          </a:p>
          <a:p xmlns:a="http://schemas.openxmlformats.org/drawingml/2006/main">
            <a:pPr marL="254000" indent="-127000" algn="l">
              <a:lnSpc>
                <a:spcPct val="108000"/>
              </a:lnSpc>
              <a:spcAft>
                <a:spcPts val="1000"/>
              </a:spcAft>
              <a:buNone/>
              <a:defRPr sz="1875">
                <a:solidFill>
                  <a:srgbClr val="354741"/>
                </a:solidFill>
                <a:latin typeface="Arial"/>
                <a:ea typeface="Arial"/>
                <a:cs typeface="Arial"/>
              </a:defRPr>
            </a:pPr>
            <a:r>
              <a:rPr sz="1875">
                <a:solidFill>
                  <a:srgbClr val="354741"/>
                </a:solidFill>
                <a:latin typeface="Arial"/>
                <a:ea typeface="Arial"/>
                <a:cs typeface="Arial"/>
              </a:rPr>
              <a:t>Expand a case to inspect returned chunks and why a chunk counted as relevant.</a:t>
            </a:r>
          </a:p>
          <a:p xmlns:a="http://schemas.openxmlformats.org/drawingml/2006/main">
            <a:pPr marL="254000" indent="-127000" algn="l">
              <a:lnSpc>
                <a:spcPct val="108000"/>
              </a:lnSpc>
              <a:spcAft>
                <a:spcPts val="1000"/>
              </a:spcAft>
              <a:buNone/>
              <a:defRPr sz="1875">
                <a:solidFill>
                  <a:srgbClr val="354741"/>
                </a:solidFill>
                <a:latin typeface="Arial"/>
                <a:ea typeface="Arial"/>
                <a:cs typeface="Arial"/>
              </a:defRPr>
            </a:pPr>
            <a:r>
              <a:rPr sz="1875">
                <a:solidFill>
                  <a:srgbClr val="354741"/>
                </a:solidFill>
                <a:latin typeface="Arial"/>
                <a:ea typeface="Arial"/>
                <a:cs typeface="Arial"/>
              </a:rPr>
              <a:t>Compare Recall@5, Precision@5, MRR, and nDCG@5 across runs on the same corpus.</a:t>
            </a:r>
          </a:p>
        </p:txBody>
      </p:sp>
      <p:sp>
        <p:nvSpPr>
          <p:cNvPr id="4" name="eval-method">
            <a:extLst xmlns:a="http://schemas.openxmlformats.org/drawingml/2006/main">
              <a:ext uri="{FF2B5EF4-FFF2-40B4-BE49-F238E27FC236}">
                <a16:creationId xmlns:a16="http://schemas.microsoft.com/office/drawing/2014/main" id="{25DD5A43-0A83-4B5D-9A6E-E82A7395CCB1}"/>
              </a:ext>
            </a:extLst>
          </p:cNvPr>
          <p:cNvSpPr>
            <a:spLocks xmlns:a="http://schemas.openxmlformats.org/drawingml/2006/main" noGrp="1"/>
          </p:cNvSpPr>
          <p:nvPr/>
        </p:nvSpPr>
        <p:spPr>
          <a:xfrm xmlns:a="http://schemas.openxmlformats.org/drawingml/2006/main">
            <a:off x="952500" y="4333875"/>
            <a:ext cx="9906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a:solidFill>
                  <a:srgbClr val="354741"/>
                </a:solidFill>
                <a:latin typeface="Arial"/>
                <a:ea typeface="Arial"/>
                <a:cs typeface="Arial"/>
              </a:defRPr>
            </a:defPPr>
          </a:lstStyle>
          <a:p xmlns:a="http://schemas.openxmlformats.org/drawingml/2006/main">
            <a:pPr algn="l">
              <a:lnSpc>
                <a:spcPct val="108000"/>
              </a:lnSpc>
              <a:buNone/>
              <a:defRPr sz="1650">
                <a:solidFill>
                  <a:srgbClr val="354741"/>
                </a:solidFill>
                <a:latin typeface="Arial"/>
                <a:ea typeface="Arial"/>
                <a:cs typeface="Arial"/>
              </a:defRPr>
            </a:pPr>
            <a:r>
              <a:rPr sz="1650">
                <a:solidFill>
                  <a:srgbClr val="354741"/>
                </a:solidFill>
                <a:latin typeface="Arial"/>
                <a:ea typeface="Arial"/>
                <a:cs typeface="Arial"/>
              </a:rPr>
              <a:t>Relevance is a keyword proxy: every required term must appear in a corpus chunk after case and punctuation normalization. It is not human relevance labelling.</a:t>
            </a:r>
          </a:p>
        </p:txBody>
      </p:sp>
      <p:sp>
        <p:nvSpPr>
          <p:cNvPr id="5" name="eval-caveat">
            <a:extLst xmlns:a="http://schemas.openxmlformats.org/drawingml/2006/main">
              <a:ext uri="{FF2B5EF4-FFF2-40B4-BE49-F238E27FC236}">
                <a16:creationId xmlns:a16="http://schemas.microsoft.com/office/drawing/2014/main" id="{EC56E827-DF37-48A7-8861-57D03C99B4CD}"/>
              </a:ext>
            </a:extLst>
          </p:cNvPr>
          <p:cNvSpPr>
            <a:spLocks xmlns:a="http://schemas.openxmlformats.org/drawingml/2006/main" noGrp="1"/>
          </p:cNvSpPr>
          <p:nvPr/>
        </p:nvSpPr>
        <p:spPr>
          <a:xfrm xmlns:a="http://schemas.openxmlformats.org/drawingml/2006/main">
            <a:off x="952500" y="5381625"/>
            <a:ext cx="99060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i="1">
                <a:solidFill>
                  <a:srgbClr val="65756F"/>
                </a:solidFill>
                <a:latin typeface="Arial"/>
                <a:ea typeface="Arial"/>
                <a:cs typeface="Arial"/>
              </a:defRPr>
            </a:defPPr>
          </a:lstStyle>
          <a:p xmlns:a="http://schemas.openxmlformats.org/drawingml/2006/main">
            <a:pPr algn="l">
              <a:lnSpc>
                <a:spcPct val="108000"/>
              </a:lnSpc>
              <a:buNone/>
              <a:defRPr sz="1575" i="1">
                <a:solidFill>
                  <a:srgbClr val="65756F"/>
                </a:solidFill>
                <a:latin typeface="Arial"/>
                <a:ea typeface="Arial"/>
                <a:cs typeface="Arial"/>
              </a:defRPr>
            </a:pPr>
            <a:r>
              <a:rPr sz="1575" i="1">
                <a:solidFill>
                  <a:srgbClr val="65756F"/>
                </a:solidFill>
                <a:latin typeface="Arial"/>
                <a:ea typeface="Arial"/>
                <a:cs typeface="Arial"/>
              </a:rPr>
              <a:t>Unsupported cases are excluded. RAGAS answer-quality metrics need an optional package and live judge; no RAGAS score has been measured yet.</a:t>
            </a:r>
          </a:p>
        </p:txBody>
      </p:sp>
    </p:spTree>
    <p:extLst>
      <p:ext uri="{BB962C8B-B14F-4D97-AF65-F5344CB8AC3E}">
        <p14:creationId xmlns:p14="http://schemas.microsoft.com/office/powerpoint/2010/main" val="173042156"/>
      </p:ext>
    </p:extLst>
  </p:cSld>
</p:sld>
</file>

<file path=ppt/slides/slide1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5" name="slide-14-title">
            <a:extLst xmlns:a="http://schemas.openxmlformats.org/drawingml/2006/main">
              <a:ext uri="{FF2B5EF4-FFF2-40B4-BE49-F238E27FC236}">
                <a16:creationId xmlns:a16="http://schemas.microsoft.com/office/drawing/2014/main" id="{14CB2D57-EC82-4289-9947-C9B84C00B689}"/>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Other workflows and their boundaries</a:t>
            </a:r>
          </a:p>
        </p:txBody>
      </p:sp>
      <p:sp>
        <p:nvSpPr>
          <p:cNvPr id="2" name="slide-14-footer">
            <a:extLst xmlns:a="http://schemas.openxmlformats.org/drawingml/2006/main">
              <a:ext uri="{FF2B5EF4-FFF2-40B4-BE49-F238E27FC236}">
                <a16:creationId xmlns:a16="http://schemas.microsoft.com/office/drawing/2014/main" id="{EE98AA29-459E-451B-8C5A-36A671532D59}"/>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14 / 16</a:t>
            </a:r>
          </a:p>
        </p:txBody>
      </p:sp>
      <p:sp>
        <p:nvSpPr>
          <p:cNvPr id="3" name="workflow-list">
            <a:extLst xmlns:a="http://schemas.openxmlformats.org/drawingml/2006/main">
              <a:ext uri="{FF2B5EF4-FFF2-40B4-BE49-F238E27FC236}">
                <a16:creationId xmlns:a16="http://schemas.microsoft.com/office/drawing/2014/main" id="{3A982D29-B95D-42FF-9BD3-04687D6E0C01}"/>
              </a:ext>
            </a:extLst>
          </p:cNvPr>
          <p:cNvSpPr>
            <a:spLocks xmlns:a="http://schemas.openxmlformats.org/drawingml/2006/main" noGrp="1"/>
          </p:cNvSpPr>
          <p:nvPr/>
        </p:nvSpPr>
        <p:spPr>
          <a:xfrm xmlns:a="http://schemas.openxmlformats.org/drawingml/2006/main">
            <a:off x="876300" y="1581150"/>
            <a:ext cx="10191750"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a:solidFill>
                  <a:srgbClr val="354741"/>
                </a:solidFill>
                <a:latin typeface="Arial"/>
                <a:ea typeface="Arial"/>
                <a:cs typeface="Arial"/>
              </a:defRPr>
            </a:defPPr>
          </a:lstStyle>
          <a:p xmlns:a="http://schemas.openxmlformats.org/drawingml/2006/main">
            <a:pPr marL="254000" indent="-127000" algn="l">
              <a:lnSpc>
                <a:spcPct val="108000"/>
              </a:lnSpc>
              <a:spcAft>
                <a:spcPts val="1000"/>
              </a:spcAft>
              <a:buNone/>
              <a:defRPr sz="1725">
                <a:solidFill>
                  <a:srgbClr val="354741"/>
                </a:solidFill>
                <a:latin typeface="Arial"/>
                <a:ea typeface="Arial"/>
                <a:cs typeface="Arial"/>
              </a:defRPr>
            </a:pPr>
            <a:r>
              <a:rPr sz="1725">
                <a:solidFill>
                  <a:srgbClr val="354741"/>
                </a:solidFill>
                <a:latin typeface="Arial"/>
                <a:ea typeface="Arial"/>
                <a:cs typeface="Arial"/>
              </a:rPr>
              <a:t>Hypotheses: falsifiable ideas attached to an evidence-backed gap.</a:t>
            </a:r>
          </a:p>
          <a:p xmlns:a="http://schemas.openxmlformats.org/drawingml/2006/main">
            <a:pPr marL="254000" indent="-127000" algn="l">
              <a:lnSpc>
                <a:spcPct val="108000"/>
              </a:lnSpc>
              <a:spcAft>
                <a:spcPts val="1000"/>
              </a:spcAft>
              <a:buNone/>
              <a:defRPr sz="1725">
                <a:solidFill>
                  <a:srgbClr val="354741"/>
                </a:solidFill>
                <a:latin typeface="Arial"/>
                <a:ea typeface="Arial"/>
                <a:cs typeface="Arial"/>
              </a:defRPr>
            </a:pPr>
            <a:r>
              <a:rPr sz="1725">
                <a:solidFill>
                  <a:srgbClr val="354741"/>
                </a:solidFill>
                <a:latin typeface="Arial"/>
                <a:ea typeface="Arial"/>
                <a:cs typeface="Arial"/>
              </a:rPr>
              <a:t>Experiment design: objective, data, baselines, deciding metric, steps, controls, and threats.</a:t>
            </a:r>
          </a:p>
          <a:p xmlns:a="http://schemas.openxmlformats.org/drawingml/2006/main">
            <a:pPr marL="254000" indent="-127000" algn="l">
              <a:lnSpc>
                <a:spcPct val="108000"/>
              </a:lnSpc>
              <a:spcAft>
                <a:spcPts val="1000"/>
              </a:spcAft>
              <a:buNone/>
              <a:defRPr sz="1725">
                <a:solidFill>
                  <a:srgbClr val="354741"/>
                </a:solidFill>
                <a:latin typeface="Arial"/>
                <a:ea typeface="Arial"/>
                <a:cs typeface="Arial"/>
              </a:defRPr>
            </a:pPr>
            <a:r>
              <a:rPr sz="1725">
                <a:solidFill>
                  <a:srgbClr val="354741"/>
                </a:solidFill>
                <a:latin typeface="Arial"/>
                <a:ea typeface="Arial"/>
                <a:cs typeface="Arial"/>
              </a:rPr>
              <a:t>Novelty: corpus coverage only; field-level novelty remains not assessed.</a:t>
            </a:r>
          </a:p>
          <a:p xmlns:a="http://schemas.openxmlformats.org/drawingml/2006/main">
            <a:pPr marL="254000" indent="-127000" algn="l">
              <a:lnSpc>
                <a:spcPct val="108000"/>
              </a:lnSpc>
              <a:spcAft>
                <a:spcPts val="1000"/>
              </a:spcAft>
              <a:buNone/>
              <a:defRPr sz="1725">
                <a:solidFill>
                  <a:srgbClr val="354741"/>
                </a:solidFill>
                <a:latin typeface="Arial"/>
                <a:ea typeface="Arial"/>
                <a:cs typeface="Arial"/>
              </a:defRPr>
            </a:pPr>
            <a:r>
              <a:rPr sz="1725">
                <a:solidFill>
                  <a:srgbClr val="354741"/>
                </a:solidFill>
                <a:latin typeface="Arial"/>
                <a:ea typeface="Arial"/>
                <a:cs typeface="Arial"/>
              </a:rPr>
              <a:t>Patent awareness: manual text and literal term overlap, with a research-only disclaimer.</a:t>
            </a:r>
          </a:p>
          <a:p xmlns:a="http://schemas.openxmlformats.org/drawingml/2006/main">
            <a:pPr marL="254000" indent="-127000" algn="l">
              <a:lnSpc>
                <a:spcPct val="108000"/>
              </a:lnSpc>
              <a:spcAft>
                <a:spcPts val="1000"/>
              </a:spcAft>
              <a:buNone/>
              <a:defRPr sz="1725">
                <a:solidFill>
                  <a:srgbClr val="354741"/>
                </a:solidFill>
                <a:latin typeface="Arial"/>
                <a:ea typeface="Arial"/>
                <a:cs typeface="Arial"/>
              </a:defRPr>
            </a:pPr>
            <a:r>
              <a:rPr sz="1725">
                <a:solidFill>
                  <a:srgbClr val="354741"/>
                </a:solidFill>
                <a:latin typeface="Arial"/>
                <a:ea typeface="Arial"/>
                <a:cs typeface="Arial"/>
              </a:rPr>
              <a:t>Literature review: cited synthesis of retrieved papers, not a systematic review.</a:t>
            </a:r>
          </a:p>
        </p:txBody>
      </p:sp>
      <p:sp>
        <p:nvSpPr>
          <p:cNvPr id="4" name="workflow-evidence-chain">
            <a:extLst xmlns:a="http://schemas.openxmlformats.org/drawingml/2006/main">
              <a:ext uri="{FF2B5EF4-FFF2-40B4-BE49-F238E27FC236}">
                <a16:creationId xmlns:a16="http://schemas.microsoft.com/office/drawing/2014/main" id="{504AC814-5031-420B-BD58-5531E35AC365}"/>
              </a:ext>
            </a:extLst>
          </p:cNvPr>
          <p:cNvSpPr>
            <a:spLocks xmlns:a="http://schemas.openxmlformats.org/drawingml/2006/main" noGrp="1"/>
          </p:cNvSpPr>
          <p:nvPr/>
        </p:nvSpPr>
        <p:spPr>
          <a:xfrm xmlns:a="http://schemas.openxmlformats.org/drawingml/2006/main">
            <a:off x="876300" y="5610225"/>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007F73"/>
                </a:solidFill>
                <a:latin typeface="Arial"/>
                <a:ea typeface="Arial"/>
                <a:cs typeface="Arial"/>
              </a:defRPr>
            </a:defPPr>
          </a:lstStyle>
          <a:p xmlns:a="http://schemas.openxmlformats.org/drawingml/2006/main">
            <a:pPr algn="l">
              <a:lnSpc>
                <a:spcPct val="108000"/>
              </a:lnSpc>
              <a:buNone/>
              <a:defRPr sz="1650" b="1">
                <a:solidFill>
                  <a:srgbClr val="007F73"/>
                </a:solidFill>
                <a:latin typeface="Arial"/>
                <a:ea typeface="Arial"/>
                <a:cs typeface="Arial"/>
              </a:defRPr>
            </a:pPr>
            <a:r>
              <a:rPr sz="1650" b="1">
                <a:solidFill>
                  <a:srgbClr val="007F73"/>
                </a:solidFill>
                <a:latin typeface="Arial"/>
                <a:ea typeface="Arial"/>
                <a:cs typeface="Arial"/>
              </a:rPr>
              <a:t>Evidence chain: passage  →  quoted gap  →  hypothesis  →  experiment</a:t>
            </a:r>
          </a:p>
        </p:txBody>
      </p:sp>
    </p:spTree>
    <p:extLst>
      <p:ext uri="{BB962C8B-B14F-4D97-AF65-F5344CB8AC3E}">
        <p14:creationId xmlns:p14="http://schemas.microsoft.com/office/powerpoint/2010/main" val="1278266636"/>
      </p:ext>
    </p:extLst>
  </p:cSld>
</p:sld>
</file>

<file path=ppt/slides/slide1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slide-15-title">
            <a:extLst xmlns:a="http://schemas.openxmlformats.org/drawingml/2006/main">
              <a:ext uri="{FF2B5EF4-FFF2-40B4-BE49-F238E27FC236}">
                <a16:creationId xmlns:a16="http://schemas.microsoft.com/office/drawing/2014/main" id="{E338A2AA-1138-48D9-80D3-99A83CA3F42F}"/>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Project progress since the mid-semester review</a:t>
            </a:r>
          </a:p>
        </p:txBody>
      </p:sp>
      <p:sp>
        <p:nvSpPr>
          <p:cNvPr id="2" name="slide-15-footer">
            <a:extLst xmlns:a="http://schemas.openxmlformats.org/drawingml/2006/main">
              <a:ext uri="{FF2B5EF4-FFF2-40B4-BE49-F238E27FC236}">
                <a16:creationId xmlns:a16="http://schemas.microsoft.com/office/drawing/2014/main" id="{EA36F2C7-D0B7-4DBD-8630-3EAACB64B44C}"/>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15 / 16</a:t>
            </a:r>
          </a:p>
        </p:txBody>
      </p:sp>
      <p:sp>
        <p:nvSpPr>
          <p:cNvPr id="3" name="baseline-number">
            <a:extLst xmlns:a="http://schemas.openxmlformats.org/drawingml/2006/main">
              <a:ext uri="{FF2B5EF4-FFF2-40B4-BE49-F238E27FC236}">
                <a16:creationId xmlns:a16="http://schemas.microsoft.com/office/drawing/2014/main" id="{DCA6B5C4-E155-421E-8C09-9A38BF54867F}"/>
              </a:ext>
            </a:extLst>
          </p:cNvPr>
          <p:cNvSpPr>
            <a:spLocks xmlns:a="http://schemas.openxmlformats.org/drawingml/2006/main" noGrp="1"/>
          </p:cNvSpPr>
          <p:nvPr/>
        </p:nvSpPr>
        <p:spPr>
          <a:xfrm xmlns:a="http://schemas.openxmlformats.org/drawingml/2006/main">
            <a:off x="933450" y="1743075"/>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65756F"/>
                </a:solidFill>
                <a:latin typeface="Arial"/>
                <a:ea typeface="Arial"/>
                <a:cs typeface="Arial"/>
              </a:defRPr>
            </a:defPPr>
          </a:lstStyle>
          <a:p xmlns:a="http://schemas.openxmlformats.org/drawingml/2006/main">
            <a:pPr algn="l">
              <a:lnSpc>
                <a:spcPct val="100000"/>
              </a:lnSpc>
              <a:buNone/>
              <a:defRPr sz="4650" b="1">
                <a:solidFill>
                  <a:srgbClr val="65756F"/>
                </a:solidFill>
                <a:latin typeface="Arial"/>
                <a:ea typeface="Arial"/>
                <a:cs typeface="Arial"/>
              </a:defRPr>
            </a:pPr>
            <a:r>
              <a:rPr sz="4650" b="1">
                <a:solidFill>
                  <a:srgbClr val="65756F"/>
                </a:solidFill>
                <a:latin typeface="Arial"/>
                <a:ea typeface="Arial"/>
                <a:cs typeface="Arial"/>
              </a:rPr>
              <a:t>≈76%</a:t>
            </a:r>
          </a:p>
        </p:txBody>
      </p:sp>
      <p:sp>
        <p:nvSpPr>
          <p:cNvPr id="4" name="baseline-copy">
            <a:extLst xmlns:a="http://schemas.openxmlformats.org/drawingml/2006/main">
              <a:ext uri="{FF2B5EF4-FFF2-40B4-BE49-F238E27FC236}">
                <a16:creationId xmlns:a16="http://schemas.microsoft.com/office/drawing/2014/main" id="{00313DCB-4301-42C1-888B-C400548F95AC}"/>
              </a:ext>
            </a:extLst>
          </p:cNvPr>
          <p:cNvSpPr>
            <a:spLocks xmlns:a="http://schemas.openxmlformats.org/drawingml/2006/main" noGrp="1"/>
          </p:cNvSpPr>
          <p:nvPr/>
        </p:nvSpPr>
        <p:spPr>
          <a:xfrm xmlns:a="http://schemas.openxmlformats.org/drawingml/2006/main">
            <a:off x="952500" y="2667000"/>
            <a:ext cx="3857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a:solidFill>
                  <a:srgbClr val="354741"/>
                </a:solidFill>
                <a:latin typeface="Arial"/>
                <a:ea typeface="Arial"/>
                <a:cs typeface="Arial"/>
              </a:defRPr>
            </a:defPPr>
          </a:lstStyle>
          <a:p xmlns:a="http://schemas.openxmlformats.org/drawingml/2006/main">
            <a:pPr algn="l">
              <a:lnSpc>
                <a:spcPct val="108000"/>
              </a:lnSpc>
              <a:buNone/>
              <a:defRPr sz="1650">
                <a:solidFill>
                  <a:srgbClr val="354741"/>
                </a:solidFill>
                <a:latin typeface="Arial"/>
                <a:ea typeface="Arial"/>
                <a:cs typeface="Arial"/>
              </a:defRPr>
            </a:pPr>
            <a:r>
              <a:rPr sz="1650">
                <a:solidFill>
                  <a:srgbClr val="354741"/>
                </a:solidFill>
                <a:latin typeface="Arial"/>
                <a:ea typeface="Arial"/>
                <a:cs typeface="Arial"/>
              </a:rPr>
              <a:t>Mid-review baseline</a:t>
            </a:r>
          </a:p>
          <a:p xmlns:a="http://schemas.openxmlformats.org/drawingml/2006/main">
            <a:pPr algn="l">
              <a:lnSpc>
                <a:spcPct val="108000"/>
              </a:lnSpc>
              <a:buNone/>
              <a:defRPr sz="1650">
                <a:solidFill>
                  <a:srgbClr val="354741"/>
                </a:solidFill>
                <a:latin typeface="Arial"/>
                <a:ea typeface="Arial"/>
                <a:cs typeface="Arial"/>
              </a:defRPr>
            </a:pPr>
            <a:r>
              <a:rPr sz="1650">
                <a:solidFill>
                  <a:srgbClr val="354741"/>
                </a:solidFill>
                <a:latin typeface="Arial"/>
                <a:ea typeface="Arial"/>
                <a:cs typeface="Arial"/>
              </a:rPr>
              <a:t>183 offline tests reported in the 85% build prompt</a:t>
            </a:r>
          </a:p>
        </p:txBody>
      </p:sp>
      <p:sp>
        <p:nvSpPr>
          <p:cNvPr id="5" name="current-number">
            <a:extLst xmlns:a="http://schemas.openxmlformats.org/drawingml/2006/main">
              <a:ext uri="{FF2B5EF4-FFF2-40B4-BE49-F238E27FC236}">
                <a16:creationId xmlns:a16="http://schemas.microsoft.com/office/drawing/2014/main" id="{AB9A256F-21ED-4DAC-8708-03720665DDAD}"/>
              </a:ext>
            </a:extLst>
          </p:cNvPr>
          <p:cNvSpPr>
            <a:spLocks xmlns:a="http://schemas.openxmlformats.org/drawingml/2006/main" noGrp="1"/>
          </p:cNvSpPr>
          <p:nvPr/>
        </p:nvSpPr>
        <p:spPr>
          <a:xfrm xmlns:a="http://schemas.openxmlformats.org/drawingml/2006/main">
            <a:off x="6515100" y="17430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007F73"/>
                </a:solidFill>
                <a:latin typeface="Arial"/>
                <a:ea typeface="Arial"/>
                <a:cs typeface="Arial"/>
              </a:defRPr>
            </a:defPPr>
          </a:lstStyle>
          <a:p xmlns:a="http://schemas.openxmlformats.org/drawingml/2006/main">
            <a:pPr algn="l">
              <a:lnSpc>
                <a:spcPct val="100000"/>
              </a:lnSpc>
              <a:buNone/>
              <a:defRPr sz="4650" b="1">
                <a:solidFill>
                  <a:srgbClr val="007F73"/>
                </a:solidFill>
                <a:latin typeface="Arial"/>
                <a:ea typeface="Arial"/>
                <a:cs typeface="Arial"/>
              </a:defRPr>
            </a:pPr>
            <a:r>
              <a:rPr sz="4650" b="1">
                <a:solidFill>
                  <a:srgbClr val="007F73"/>
                </a:solidFill>
                <a:latin typeface="Arial"/>
                <a:ea typeface="Arial"/>
                <a:cs typeface="Arial"/>
              </a:rPr>
              <a:t>≈84%</a:t>
            </a:r>
          </a:p>
        </p:txBody>
      </p:sp>
      <p:sp>
        <p:nvSpPr>
          <p:cNvPr id="6" name="current-copy">
            <a:extLst xmlns:a="http://schemas.openxmlformats.org/drawingml/2006/main">
              <a:ext uri="{FF2B5EF4-FFF2-40B4-BE49-F238E27FC236}">
                <a16:creationId xmlns:a16="http://schemas.microsoft.com/office/drawing/2014/main" id="{5BAF4F6C-2C65-46C2-AAC8-960C60098FF9}"/>
              </a:ext>
            </a:extLst>
          </p:cNvPr>
          <p:cNvSpPr>
            <a:spLocks xmlns:a="http://schemas.openxmlformats.org/drawingml/2006/main" noGrp="1"/>
          </p:cNvSpPr>
          <p:nvPr/>
        </p:nvSpPr>
        <p:spPr>
          <a:xfrm xmlns:a="http://schemas.openxmlformats.org/drawingml/2006/main">
            <a:off x="6534150" y="2667000"/>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a:solidFill>
                  <a:srgbClr val="354741"/>
                </a:solidFill>
                <a:latin typeface="Arial"/>
                <a:ea typeface="Arial"/>
                <a:cs typeface="Arial"/>
              </a:defRPr>
            </a:defPPr>
          </a:lstStyle>
          <a:p xmlns:a="http://schemas.openxmlformats.org/drawingml/2006/main">
            <a:pPr algn="l">
              <a:lnSpc>
                <a:spcPct val="108000"/>
              </a:lnSpc>
              <a:buNone/>
              <a:defRPr sz="1650">
                <a:solidFill>
                  <a:srgbClr val="354741"/>
                </a:solidFill>
                <a:latin typeface="Arial"/>
                <a:ea typeface="Arial"/>
                <a:cs typeface="Arial"/>
              </a:defRPr>
            </a:pPr>
            <a:r>
              <a:rPr sz="1650">
                <a:solidFill>
                  <a:srgbClr val="354741"/>
                </a:solidFill>
                <a:latin typeface="Arial"/>
                <a:ea typeface="Arial"/>
                <a:cs typeface="Arial"/>
              </a:rPr>
              <a:t>Latest documented status</a:t>
            </a:r>
          </a:p>
          <a:p xmlns:a="http://schemas.openxmlformats.org/drawingml/2006/main">
            <a:pPr algn="l">
              <a:lnSpc>
                <a:spcPct val="108000"/>
              </a:lnSpc>
              <a:buNone/>
              <a:defRPr sz="1650">
                <a:solidFill>
                  <a:srgbClr val="354741"/>
                </a:solidFill>
                <a:latin typeface="Arial"/>
                <a:ea typeface="Arial"/>
                <a:cs typeface="Arial"/>
              </a:defRPr>
            </a:pPr>
            <a:r>
              <a:rPr sz="1650">
                <a:solidFill>
                  <a:srgbClr val="354741"/>
                </a:solidFill>
                <a:latin typeface="Arial"/>
                <a:ea typeface="Arial"/>
                <a:cs typeface="Arial"/>
              </a:rPr>
              <a:t>392 backend + 110 frontend = 502 offline tests</a:t>
            </a:r>
          </a:p>
        </p:txBody>
      </p:sp>
      <p:sp>
        <p:nvSpPr>
          <p:cNvPr id="7" name="progress-list">
            <a:extLst xmlns:a="http://schemas.openxmlformats.org/drawingml/2006/main">
              <a:ext uri="{FF2B5EF4-FFF2-40B4-BE49-F238E27FC236}">
                <a16:creationId xmlns:a16="http://schemas.microsoft.com/office/drawing/2014/main" id="{A594EE30-DAE2-4CBD-A8E0-4A847C2C00B6}"/>
              </a:ext>
            </a:extLst>
          </p:cNvPr>
          <p:cNvSpPr>
            <a:spLocks xmlns:a="http://schemas.openxmlformats.org/drawingml/2006/main" noGrp="1"/>
          </p:cNvSpPr>
          <p:nvPr/>
        </p:nvSpPr>
        <p:spPr>
          <a:xfrm xmlns:a="http://schemas.openxmlformats.org/drawingml/2006/main">
            <a:off x="895350" y="4048125"/>
            <a:ext cx="10287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a:solidFill>
                  <a:srgbClr val="354741"/>
                </a:solidFill>
                <a:latin typeface="Arial"/>
                <a:ea typeface="Arial"/>
                <a:cs typeface="Arial"/>
              </a:defRPr>
            </a:defPPr>
          </a:lstStyle>
          <a:p xmlns:a="http://schemas.openxmlformats.org/drawingml/2006/main">
            <a:pPr marL="254000" indent="-127000" algn="l">
              <a:lnSpc>
                <a:spcPct val="108000"/>
              </a:lnSpc>
              <a:spcAft>
                <a:spcPts val="1000"/>
              </a:spcAft>
              <a:buNone/>
              <a:defRPr sz="1575">
                <a:solidFill>
                  <a:srgbClr val="354741"/>
                </a:solidFill>
                <a:latin typeface="Arial"/>
                <a:ea typeface="Arial"/>
                <a:cs typeface="Arial"/>
              </a:defRPr>
            </a:pPr>
            <a:r>
              <a:rPr sz="1575">
                <a:solidFill>
                  <a:srgbClr val="354741"/>
                </a:solidFill>
                <a:latin typeface="Arial"/>
                <a:ea typeface="Arial"/>
                <a:cs typeface="Arial"/>
              </a:rPr>
              <a:t>Added persistence, CI/frontend coverage, accessibility and HTTP hardening.</a:t>
            </a:r>
          </a:p>
          <a:p xmlns:a="http://schemas.openxmlformats.org/drawingml/2006/main">
            <a:pPr marL="254000" indent="-127000" algn="l">
              <a:lnSpc>
                <a:spcPct val="108000"/>
              </a:lnSpc>
              <a:spcAft>
                <a:spcPts val="1000"/>
              </a:spcAft>
              <a:buNone/>
              <a:defRPr sz="1575">
                <a:solidFill>
                  <a:srgbClr val="354741"/>
                </a:solidFill>
                <a:latin typeface="Arial"/>
                <a:ea typeface="Arial"/>
                <a:cs typeface="Arial"/>
              </a:defRPr>
            </a:pPr>
            <a:r>
              <a:rPr sz="1575">
                <a:solidFill>
                  <a:srgbClr val="354741"/>
                </a:solidFill>
                <a:latin typeface="Arial"/>
                <a:ea typeface="Arial"/>
                <a:cs typeface="Arial"/>
              </a:rPr>
              <a:t>Added project-scoped novelty and the chained literature review flow; connected RAGAS, without claiming measured scores.</a:t>
            </a:r>
          </a:p>
          <a:p xmlns:a="http://schemas.openxmlformats.org/drawingml/2006/main">
            <a:pPr marL="254000" indent="-127000" algn="l">
              <a:lnSpc>
                <a:spcPct val="108000"/>
              </a:lnSpc>
              <a:spcAft>
                <a:spcPts val="1000"/>
              </a:spcAft>
              <a:buNone/>
              <a:defRPr sz="1575">
                <a:solidFill>
                  <a:srgbClr val="354741"/>
                </a:solidFill>
                <a:latin typeface="Arial"/>
                <a:ea typeface="Arial"/>
                <a:cs typeface="Arial"/>
              </a:defRPr>
            </a:pPr>
            <a:r>
              <a:rPr sz="1575">
                <a:solidFill>
                  <a:srgbClr val="354741"/>
                </a:solidFill>
                <a:latin typeface="Arial"/>
                <a:ea typeface="Arial"/>
                <a:cs typeface="Arial"/>
              </a:rPr>
              <a:t>Still pending: a real live-model validation run. Advanced patent work remains in Stage B.</a:t>
            </a:r>
          </a:p>
        </p:txBody>
      </p:sp>
    </p:spTree>
    <p:extLst>
      <p:ext uri="{BB962C8B-B14F-4D97-AF65-F5344CB8AC3E}">
        <p14:creationId xmlns:p14="http://schemas.microsoft.com/office/powerpoint/2010/main" val="1522875192"/>
      </p:ext>
    </p:extLst>
  </p:cSld>
</p:sld>
</file>

<file path=ppt/slides/slide1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slide-16-title">
            <a:extLst xmlns:a="http://schemas.openxmlformats.org/drawingml/2006/main">
              <a:ext uri="{FF2B5EF4-FFF2-40B4-BE49-F238E27FC236}">
                <a16:creationId xmlns:a16="http://schemas.microsoft.com/office/drawing/2014/main" id="{0161CE4C-922A-45F9-95E1-49D9702FD6C7}"/>
              </a:ext>
            </a:extLst>
          </p:cNvPr>
          <p:cNvSpPr>
            <a:spLocks xmlns:a="http://schemas.openxmlformats.org/drawingml/2006/main" noGrp="1"/>
          </p:cNvSpPr>
          <p:nvPr/>
        </p:nvSpPr>
        <p:spPr>
          <a:xfrm xmlns:a="http://schemas.openxmlformats.org/drawingml/2006/main">
            <a:off x="723900" y="5334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623"/>
                </a:solidFill>
                <a:latin typeface="Arial"/>
                <a:ea typeface="Arial"/>
                <a:cs typeface="Arial"/>
              </a:defRPr>
            </a:defPPr>
          </a:lstStyle>
          <a:p xmlns:a="http://schemas.openxmlformats.org/drawingml/2006/main">
            <a:pPr algn="l">
              <a:lnSpc>
                <a:spcPct val="100000"/>
              </a:lnSpc>
              <a:buNone/>
              <a:defRPr sz="3300" b="1">
                <a:solidFill>
                  <a:srgbClr val="172623"/>
                </a:solidFill>
                <a:latin typeface="Arial"/>
                <a:ea typeface="Arial"/>
                <a:cs typeface="Arial"/>
              </a:defRPr>
            </a:pPr>
            <a:r>
              <a:rPr sz="3300" b="1">
                <a:solidFill>
                  <a:srgbClr val="172623"/>
                </a:solidFill>
                <a:latin typeface="Arial"/>
                <a:ea typeface="Arial"/>
                <a:cs typeface="Arial"/>
              </a:rPr>
              <a:t>End-to-end demo checklist</a:t>
            </a:r>
          </a:p>
        </p:txBody>
      </p:sp>
      <p:sp>
        <p:nvSpPr>
          <p:cNvPr id="2" name="slide-16-footer">
            <a:extLst xmlns:a="http://schemas.openxmlformats.org/drawingml/2006/main">
              <a:ext uri="{FF2B5EF4-FFF2-40B4-BE49-F238E27FC236}">
                <a16:creationId xmlns:a16="http://schemas.microsoft.com/office/drawing/2014/main" id="{07252E28-579D-42DE-AF2C-B255C85B748D}"/>
              </a:ext>
            </a:extLst>
          </p:cNvPr>
          <p:cNvSpPr>
            <a:spLocks xmlns:a="http://schemas.openxmlformats.org/drawingml/2006/main" noGrp="1"/>
          </p:cNvSpPr>
          <p:nvPr/>
        </p:nvSpPr>
        <p:spPr>
          <a:xfrm xmlns:a="http://schemas.openxmlformats.org/drawingml/2006/main">
            <a:off x="723900" y="644842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65756F"/>
                </a:solidFill>
                <a:latin typeface="Arial"/>
                <a:ea typeface="Arial"/>
                <a:cs typeface="Arial"/>
              </a:defRPr>
            </a:defPPr>
          </a:lstStyle>
          <a:p xmlns:a="http://schemas.openxmlformats.org/drawingml/2006/main">
            <a:pPr algn="l">
              <a:lnSpc>
                <a:spcPct val="100000"/>
              </a:lnSpc>
              <a:buNone/>
              <a:defRPr sz="975" b="1">
                <a:solidFill>
                  <a:srgbClr val="65756F"/>
                </a:solidFill>
                <a:latin typeface="Arial"/>
                <a:ea typeface="Arial"/>
                <a:cs typeface="Arial"/>
              </a:defRPr>
            </a:pPr>
            <a:r>
              <a:rPr sz="975" b="1">
                <a:solidFill>
                  <a:srgbClr val="65756F"/>
                </a:solidFill>
                <a:latin typeface="Arial"/>
                <a:ea typeface="Arial"/>
                <a:cs typeface="Arial"/>
              </a:rPr>
              <a:t>MAIROS  ·  PROJECT WALKTHROUGH                                      16 / 16</a:t>
            </a:r>
          </a:p>
        </p:txBody>
      </p:sp>
      <p:sp>
        <p:nvSpPr>
          <p:cNvPr id="3" name="demo-checklist">
            <a:extLst xmlns:a="http://schemas.openxmlformats.org/drawingml/2006/main">
              <a:ext uri="{FF2B5EF4-FFF2-40B4-BE49-F238E27FC236}">
                <a16:creationId xmlns:a16="http://schemas.microsoft.com/office/drawing/2014/main" id="{D942956F-961D-4FD2-A46A-459B046417E9}"/>
              </a:ext>
            </a:extLst>
          </p:cNvPr>
          <p:cNvSpPr>
            <a:spLocks xmlns:a="http://schemas.openxmlformats.org/drawingml/2006/main" noGrp="1"/>
          </p:cNvSpPr>
          <p:nvPr/>
        </p:nvSpPr>
        <p:spPr>
          <a:xfrm xmlns:a="http://schemas.openxmlformats.org/drawingml/2006/main">
            <a:off x="838200" y="1504950"/>
            <a:ext cx="10287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a:solidFill>
                  <a:srgbClr val="354741"/>
                </a:solidFill>
                <a:latin typeface="Arial"/>
                <a:ea typeface="Arial"/>
                <a:cs typeface="Arial"/>
              </a:defRPr>
            </a:defPPr>
          </a:lstStyle>
          <a:p xmlns:a="http://schemas.openxmlformats.org/drawingml/2006/main">
            <a:pPr marL="254000" indent="-127000" algn="l">
              <a:lnSpc>
                <a:spcPct val="108000"/>
              </a:lnSpc>
              <a:spcAft>
                <a:spcPts val="1000"/>
              </a:spcAft>
              <a:buNone/>
              <a:defRPr sz="1725">
                <a:solidFill>
                  <a:srgbClr val="354741"/>
                </a:solidFill>
                <a:latin typeface="Arial"/>
                <a:ea typeface="Arial"/>
                <a:cs typeface="Arial"/>
              </a:defRPr>
            </a:pPr>
            <a:r>
              <a:rPr sz="1725">
                <a:solidFill>
                  <a:srgbClr val="354741"/>
                </a:solidFill>
                <a:latin typeface="Arial"/>
                <a:ea typeface="Arial"/>
                <a:cs typeface="Arial"/>
              </a:rPr>
              <a:t>Create RAG Literature Demo; search the topic and upload the 10-page / 10-chunk synthetic fixture.</a:t>
            </a:r>
          </a:p>
          <a:p xmlns:a="http://schemas.openxmlformats.org/drawingml/2006/main">
            <a:pPr marL="254000" indent="-127000" algn="l">
              <a:lnSpc>
                <a:spcPct val="108000"/>
              </a:lnSpc>
              <a:spcAft>
                <a:spcPts val="1000"/>
              </a:spcAft>
              <a:buNone/>
              <a:defRPr sz="1725">
                <a:solidFill>
                  <a:srgbClr val="354741"/>
                </a:solidFill>
                <a:latin typeface="Arial"/>
                <a:ea typeface="Arial"/>
                <a:cs typeface="Arial"/>
              </a:defRPr>
            </a:pPr>
            <a:r>
              <a:rPr sz="1725">
                <a:solidFill>
                  <a:srgbClr val="354741"/>
                </a:solidFill>
                <a:latin typeface="Arial"/>
                <a:ea typeface="Arial"/>
                <a:cs typeface="Arial"/>
              </a:rPr>
              <a:t>Add two real RAG papers; ask the chat question; run comparison, gaps, and literature review.</a:t>
            </a:r>
          </a:p>
          <a:p xmlns:a="http://schemas.openxmlformats.org/drawingml/2006/main">
            <a:pPr marL="254000" indent="-127000" algn="l">
              <a:lnSpc>
                <a:spcPct val="108000"/>
              </a:lnSpc>
              <a:spcAft>
                <a:spcPts val="1000"/>
              </a:spcAft>
              <a:buNone/>
              <a:defRPr sz="1725">
                <a:solidFill>
                  <a:srgbClr val="354741"/>
                </a:solidFill>
                <a:latin typeface="Arial"/>
                <a:ea typeface="Arial"/>
                <a:cs typeface="Arial"/>
              </a:defRPr>
            </a:pPr>
            <a:r>
              <a:rPr sz="1725">
                <a:solidFill>
                  <a:srgbClr val="354741"/>
                </a:solidFill>
                <a:latin typeface="Arial"/>
                <a:ea typeface="Arial"/>
                <a:cs typeface="Arial"/>
              </a:rPr>
              <a:t>Inspect the whole Task and its agent events; open Knowledge Graph; run Evaluation last.</a:t>
            </a:r>
          </a:p>
        </p:txBody>
      </p:sp>
      <p:sp>
        <p:nvSpPr>
          <p:cNvPr id="4" name="export-question">
            <a:extLst xmlns:a="http://schemas.openxmlformats.org/drawingml/2006/main">
              <a:ext uri="{FF2B5EF4-FFF2-40B4-BE49-F238E27FC236}">
                <a16:creationId xmlns:a16="http://schemas.microsoft.com/office/drawing/2014/main" id="{47DD7A5B-8E48-40F2-AB96-CE32F8F04FF9}"/>
              </a:ext>
            </a:extLst>
          </p:cNvPr>
          <p:cNvSpPr>
            <a:spLocks xmlns:a="http://schemas.openxmlformats.org/drawingml/2006/main" noGrp="1"/>
          </p:cNvSpPr>
          <p:nvPr/>
        </p:nvSpPr>
        <p:spPr>
          <a:xfrm xmlns:a="http://schemas.openxmlformats.org/drawingml/2006/main">
            <a:off x="838200" y="40481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2623"/>
                </a:solidFill>
                <a:latin typeface="Arial"/>
                <a:ea typeface="Arial"/>
                <a:cs typeface="Arial"/>
              </a:defRPr>
            </a:defPPr>
          </a:lstStyle>
          <a:p xmlns:a="http://schemas.openxmlformats.org/drawingml/2006/main">
            <a:pPr algn="l">
              <a:lnSpc>
                <a:spcPct val="108000"/>
              </a:lnSpc>
              <a:buNone/>
              <a:defRPr sz="2175" b="1">
                <a:solidFill>
                  <a:srgbClr val="172623"/>
                </a:solidFill>
                <a:latin typeface="Arial"/>
                <a:ea typeface="Arial"/>
                <a:cs typeface="Arial"/>
              </a:defRPr>
            </a:pPr>
            <a:r>
              <a:rPr sz="2175" b="1">
                <a:solidFill>
                  <a:srgbClr val="172623"/>
                </a:solidFill>
                <a:latin typeface="Arial"/>
                <a:ea typeface="Arial"/>
                <a:cs typeface="Arial"/>
              </a:rPr>
              <a:t>Should users be able to download extracted project data?</a:t>
            </a:r>
          </a:p>
        </p:txBody>
      </p:sp>
      <p:sp>
        <p:nvSpPr>
          <p:cNvPr id="5" name="export-answer">
            <a:extLst xmlns:a="http://schemas.openxmlformats.org/drawingml/2006/main">
              <a:ext uri="{FF2B5EF4-FFF2-40B4-BE49-F238E27FC236}">
                <a16:creationId xmlns:a16="http://schemas.microsoft.com/office/drawing/2014/main" id="{1BC9E6E6-9F3C-4428-9B3C-99C1F36C98FD}"/>
              </a:ext>
            </a:extLst>
          </p:cNvPr>
          <p:cNvSpPr>
            <a:spLocks xmlns:a="http://schemas.openxmlformats.org/drawingml/2006/main" noGrp="1"/>
          </p:cNvSpPr>
          <p:nvPr/>
        </p:nvSpPr>
        <p:spPr>
          <a:xfrm xmlns:a="http://schemas.openxmlformats.org/drawingml/2006/main">
            <a:off x="838200" y="4695825"/>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a:solidFill>
                  <a:srgbClr val="354741"/>
                </a:solidFill>
                <a:latin typeface="Arial"/>
                <a:ea typeface="Arial"/>
                <a:cs typeface="Arial"/>
              </a:defRPr>
            </a:defPPr>
          </a:lstStyle>
          <a:p xmlns:a="http://schemas.openxmlformats.org/drawingml/2006/main">
            <a:pPr algn="l">
              <a:lnSpc>
                <a:spcPct val="108000"/>
              </a:lnSpc>
              <a:buNone/>
              <a:defRPr sz="1650">
                <a:solidFill>
                  <a:srgbClr val="354741"/>
                </a:solidFill>
                <a:latin typeface="Arial"/>
                <a:ea typeface="Arial"/>
                <a:cs typeface="Arial"/>
              </a:defRPr>
            </a:pPr>
            <a:r>
              <a:rPr sz="1650">
                <a:solidFill>
                  <a:srgbClr val="354741"/>
                </a:solidFill>
                <a:latin typeface="Arial"/>
                <a:ea typeface="Arial"/>
                <a:cs typeface="Arial"/>
              </a:rPr>
              <a:t>Recommended: yes. Offer a project archive with metadata, tasks, graph, evaluation results, and extracted chunks; include original PDFs only by choice. It helps backup and reproducibility. This export is a proposal, not a current feature.</a:t>
            </a:r>
          </a:p>
        </p:txBody>
      </p:sp>
    </p:spTree>
    <p:extLst>
      <p:ext uri="{BB962C8B-B14F-4D97-AF65-F5344CB8AC3E}">
        <p14:creationId xmlns:p14="http://schemas.microsoft.com/office/powerpoint/2010/main" val="15762889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2026-10-13T15:52:01.3650000Z</dcterms:created>
  <dcterms:modified xsi:type="dcterms:W3CDTF">2026-10-13T15:52:01.3650000Z</dcterms:modified>
</coreProperties>
</file>